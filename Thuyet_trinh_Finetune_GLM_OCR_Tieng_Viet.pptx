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RESEARCH ON LIGHTWEIGHT MLLM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6B6D4"/>
                </a:solidFill>
                <a:latin typeface="Segoe UI"/>
              </a:defRPr>
            </a:pPr>
            <a:r>
              <a:t>FOR VIETNAMESE OCR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2468880"/>
            <a:ext cx="27432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Segoe UI"/>
              </a:defRPr>
            </a:pPr>
            <a:r>
              <a:t>Fine-tuning GLM-OCR for Diacritical Mark Recognition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3474720"/>
            <a:ext cx="6400800" cy="22860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35661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B82F6"/>
                </a:solidFill>
                <a:latin typeface="Segoe UI"/>
              </a:defRPr>
            </a:pPr>
            <a:r>
              <a:t>Team 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977639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250201052  —  Nguyen Tuan Dung</a:t>
            </a:r>
          </a:p>
          <a:p>
            <a:pPr>
              <a:spcAft>
                <a:spcPts val="40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250201068  —  Nguyen Trong Kien</a:t>
            </a:r>
          </a:p>
          <a:p>
            <a:pPr>
              <a:spcAft>
                <a:spcPts val="40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250201072  —  Pham Nhat Linh</a:t>
            </a:r>
          </a:p>
          <a:p>
            <a:pPr>
              <a:spcAft>
                <a:spcPts val="400"/>
              </a:spcAft>
              <a:defRPr sz="800" b="0">
                <a:solidFill>
                  <a:srgbClr val="FFFFFF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Segoe UI"/>
              </a:defRPr>
            </a:pPr>
            <a:r>
              <a:t>Advisor: ............................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University of Information Technology  •  Faculty of Computer Science  •  May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OUTLINE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640080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Introduction &amp; Motivation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1645920"/>
            <a:ext cx="3657600" cy="3810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47088"/>
            <a:ext cx="640080" cy="5486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93852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GLM-OCR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2395728"/>
            <a:ext cx="3657600" cy="3810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596896"/>
            <a:ext cx="640080" cy="5486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700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688336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Fine-tuning Method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3145536"/>
            <a:ext cx="3657600" cy="3810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346704"/>
            <a:ext cx="64008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198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38144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Training Data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3895344"/>
            <a:ext cx="3657600" cy="3810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096511"/>
            <a:ext cx="640080" cy="5486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169663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187951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Training &amp; Optimization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4645151"/>
            <a:ext cx="3657600" cy="3810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640080" cy="5486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9194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Evaluation &amp; Results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5394960"/>
            <a:ext cx="3657600" cy="3810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1520" y="5596128"/>
            <a:ext cx="640080" cy="5486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669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6875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Segoe UI"/>
              </a:defRPr>
            </a:pPr>
            <a:r>
              <a:t>Conclusion &amp; Future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INTRODUCTION &amp;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486400" cy="22860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Segoe UI"/>
              </a:defRPr>
            </a:pPr>
            <a:r>
              <a:t>🔥 Vietnamese OCR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Complex diacritical system: 6 tones + double diacritics (ă, â, ê, ô, ơ, ư, đ)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One wrong mark = different meaning: ma, má, mà, mả, mã, mạ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Current VLMs (GLM-OCR, Qwen-VL) poorly recognize Vietnamese diacritics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Lack of high-quality Vietnamese pre-training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486400" cy="22860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💡 Proposed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Fine-tune GLM-OCR (0.9B params) with LoRA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Two-stage curriculum learning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Anti-bias: prevent diacritical hallucination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Complete pipeline: data → train → eval → deploy</a:t>
            </a:r>
          </a:p>
        </p:txBody>
      </p:sp>
      <p:pic>
        <p:nvPicPr>
          <p:cNvPr id="10" name="Picture 9" descr="vlm_ocr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657600"/>
            <a:ext cx="914400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VLM LANDSCAPE FOR OCR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1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4481"/>
                <a:gridCol w="3149193"/>
                <a:gridCol w="1349654"/>
                <a:gridCol w="472379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 Type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Examples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Params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Key Characteristics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Traditional OCR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Tesseract, PaddleOCR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Pipeline: detect → segment → recognize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Generalist VLM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Qwen2.5-VL, GPT-4o, Gemini 2.5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7B–70B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Strong reasoning, long context, resource-heavy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Specialized OCR VLM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GLM-OCR, OlmOCR-2, dots.ocr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0.9B–8B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Optimized text extraction, structured output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Compact/Efficient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GLM-OCR, PaddleOCR-VL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&lt;1B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Edge deployment, compute-efficient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383280"/>
            <a:ext cx="11247120" cy="10972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📌 Choice: GLM-OCR (0.9B) — best balance of performance &amp; efficiency, suitable for fine-tuning on Colab T4. Features MTP (Multi-Token Prediction) for 50% faster inference, clear 3-component architecture enables flexible freeze/unfreeze.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GLM-OCR ARCHITECTURE</a:t>
            </a:r>
          </a:p>
        </p:txBody>
      </p:sp>
      <p:pic>
        <p:nvPicPr>
          <p:cNvPr id="4" name="Picture 3" descr="glm_oc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3200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4389120"/>
            <a:ext cx="3474720" cy="21031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Segoe UI"/>
              </a:defRPr>
            </a:pPr>
            <a:r>
              <a:t>CogViT 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0.4B params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24 layers, hidden=1024</a:t>
            </a:r>
            <a:br/>
            <a:r>
              <a:t>Patch 14×14, merge=2</a:t>
            </a:r>
            <a:br/>
            <a:r>
              <a:t>336×336 input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4389120"/>
            <a:ext cx="3474720" cy="21031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4480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Segoe UI"/>
              </a:defRPr>
            </a:pPr>
            <a:r>
              <a:t>Cross-Modal</a:t>
            </a:r>
            <a:br/>
            <a:r>
              <a:t>Projector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983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3035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Visual → Language</a:t>
            </a:r>
            <a:br/>
            <a:r>
              <a:t>Token downsampling</a:t>
            </a:r>
            <a:br/>
            <a:r>
              <a:t>Unfrozen during fine-tune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4389120"/>
            <a:ext cx="3474720" cy="21031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480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Segoe UI"/>
              </a:defRPr>
            </a:pPr>
            <a:r>
              <a:t>GLM Decoder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9834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Segoe UI"/>
              </a:defRPr>
            </a:pPr>
            <a:r>
              <a:t>0.5B params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035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Segoe UI"/>
              </a:defRPr>
            </a:pPr>
            <a:r>
              <a:t>16 layers, hidden=1536</a:t>
            </a:r>
            <a:br/>
            <a:r>
              <a:t>GQA 8 KV heads</a:t>
            </a:r>
            <a:br/>
            <a:r>
              <a:t>MTP: 5.2 tokens/step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LoRA FINE-TUNING METHOD</a:t>
            </a:r>
          </a:p>
        </p:txBody>
      </p:sp>
      <p:pic>
        <p:nvPicPr>
          <p:cNvPr id="4" name="Picture 3" descr="lora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029200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43600" y="914400"/>
            <a:ext cx="5760720" cy="3200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0058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LoRA Configuration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41732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h = Wx + ΔWx = Wx + BAx</a:t>
            </a:r>
          </a:p>
          <a:p>
            <a:pPr>
              <a:spcAft>
                <a:spcPts val="400"/>
              </a:spcAft>
              <a:defRPr sz="600" b="0">
                <a:solidFill>
                  <a:srgbClr val="FFFFFF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Rank (r) = 16    |    Alpha = 32    |    Dropout = 0.1</a:t>
            </a: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Target: all linear layers</a:t>
            </a:r>
          </a:p>
          <a:p>
            <a:pPr>
              <a:spcAft>
                <a:spcPts val="40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(q/k/v/o_proj, gate/up/down_proj, lm_head)</a:t>
            </a:r>
          </a:p>
          <a:p>
            <a:pPr>
              <a:spcAft>
                <a:spcPts val="400"/>
              </a:spcAft>
              <a:defRPr sz="600" b="0">
                <a:solidFill>
                  <a:srgbClr val="FFFFFF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Trainable: ~7.5M / 1.1B = 0.68%  ✅</a:t>
            </a:r>
          </a:p>
          <a:p>
            <a:pPr>
              <a:spcAft>
                <a:spcPts val="400"/>
              </a:spcAft>
              <a:defRPr sz="1300" b="0">
                <a:solidFill>
                  <a:srgbClr val="06B6D4"/>
                </a:solidFill>
                <a:latin typeface="Segoe UI"/>
              </a:defRPr>
            </a:pPr>
            <a:r>
              <a:t>VRAM: only ~7 GB (T4 16 GB)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97680"/>
            <a:ext cx="1124712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🔑  Freeze ViT + Unfreeze Projector → Build new "visual dictionary" for Vietnamese diacritics without losing pre-trained visual knowledge. Projector maps visual features → multiple tokens ("Nguyen" = 3 tokens).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486400"/>
            <a:ext cx="548640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5778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Stage 1: Line-level SFT</a:t>
            </a:r>
            <a:br/>
            <a:r>
              <a:t>50K synthetic · LR 1e-4 · Cutoff 2048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5486400"/>
            <a:ext cx="548640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557784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Stage 2: Document-level SFT</a:t>
            </a:r>
            <a:br/>
            <a:r>
              <a:t>10K news · LR 5e-5 · Cutoff 4096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TRAINING DATA PIPELINE</a:t>
            </a:r>
          </a:p>
        </p:txBody>
      </p:sp>
      <p:pic>
        <p:nvPicPr>
          <p:cNvPr id="4" name="Picture 3" descr="finetun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2743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3840480"/>
            <a:ext cx="548640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  <a:latin typeface="Segoe UI"/>
              </a:defRPr>
            </a:pPr>
            <a:r>
              <a:t>Stage 1: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35,501 dictionary words + 3,544 hard words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58 verified Windows fonts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7 diverse sample generators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14 augmentation types (40% no-aug)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Output: 50K train + 100 val + 100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840480"/>
            <a:ext cx="5486400" cy="27432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931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  <a:latin typeface="Segoe UI"/>
              </a:defRPr>
            </a:pPr>
            <a:r>
              <a:t>Stage 2: News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34340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15 RSS feeds: VNExpress, Tuoi Tre, Thanh Nien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Pipeline: RSS → fetch → filter → chunk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30% strip diacritics (anti-hallucination)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Light augmentation: blur, noise, jpeg, rotate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Output: 10K train + 50 val + 100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7 SAMPLE GENERATORS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"/>
                <a:gridCol w="2024481"/>
                <a:gridCol w="787298"/>
                <a:gridCol w="3936491"/>
                <a:gridCol w="3936491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Generator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Ratio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Purpose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gen_word_list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8-16 random words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Vocabulary diversity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gen_phrase_list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25%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2-4 phrases + commas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Phrase learning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gen_confusion_pair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Near-identical pairs (dist=1)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Fine-grained discrimination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gen_grouped_words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Same diacritic group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Focus on ă, â, ê, ô, ơ, ư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gen_mixed_line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Phrases + words, 2 lines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Multi-line layout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gen_dense_sentence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25%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Phrases + periods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Complex sentences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gen_plain_words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Mixed with/without diacritics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⚠️ Anti-bias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023360"/>
            <a:ext cx="1124712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⚠️  Anti-bias Strategy: gen_plain_words (10%) + 30% strip diacritics (Stage 2) → Teach the model NOT to add diacritics to plain text (prevent hallucination). Measured via False Positive Rate.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212080"/>
            <a:ext cx="11247120" cy="11887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Segoe UI"/>
              </a:defRPr>
            </a:pPr>
            <a:r>
              <a:t>Confusion Pairs — examples: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235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chuồng ↔ chuồng  |  lặng ↔ lẫm  |  hổ ↔ hỗ  |  ngã ↔ ngả  |  mật ↔ mịt</a:t>
            </a:r>
            <a:br/>
            <a:r>
              <a:t>→ Up to 5,000 pairs (edit distance = 1) for fine-grained discrimination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DATA AUGMENTATION — 14 TYPES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76480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596"/>
                <a:gridCol w="1124712"/>
                <a:gridCol w="1124712"/>
                <a:gridCol w="1574596"/>
                <a:gridCol w="1124712"/>
                <a:gridCol w="1124712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Type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Params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Simulates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Type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Params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Simulates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Gaussian Blur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R=0.3-0.8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Camera blur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Shadow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5 directions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Drop shadow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Gaussian Noise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I=15-35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Image noise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Glare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Bright overlay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Overexposure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Contrast ↑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1.1-1.5×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Bright scene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Perspective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2-7%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Angle warp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Contrast ↓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0.65-0.9×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Dark scene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Downscale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0.75-0.92×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Low resolution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JPEG Compress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Q=55-80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Compression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Wave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2-10px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Curved page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Rotation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±3°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Tilted scan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Elastic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σ=3-6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Deformation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Motion Blur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5-12px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Motion blur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Defocus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Blur+noise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Focus blur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📊 Distribution: 40% no augmentation (clean diacritical learning) + 60% random augmentation (robustness). Stage 2 uses only 4 lighter types: blur, noise, jpeg, rotate.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TRAINING CONFIGURATION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48640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B82F6"/>
                </a:solidFill>
                <a:latin typeface="Segoe UI"/>
              </a:defRPr>
            </a:pPr>
            <a:r>
              <a:t>Stage 1 — Line-level SFT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LoRA: r=16, α=32, dropout=0.1</a:t>
            </a: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Target: all linear layers</a:t>
            </a:r>
          </a:p>
          <a:p>
            <a:pPr>
              <a:spcAft>
                <a:spcPts val="4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freeze_vision = true  |  freeze_projector = false 🔓</a:t>
            </a:r>
          </a:p>
          <a:p>
            <a:pPr>
              <a:spcAft>
                <a:spcPts val="400"/>
              </a:spcAft>
              <a:defRPr sz="600" b="0">
                <a:solidFill>
                  <a:srgbClr val="FFFFFF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LR = 1e-4  |  Scheduler = constant_with_warmup</a:t>
            </a: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Batch = 8 × 8 accum = 64 effective</a:t>
            </a: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FP16  |  Cutoff 2048  |  50K samples</a:t>
            </a:r>
          </a:p>
          <a:p>
            <a:pPr>
              <a:spcAft>
                <a:spcPts val="400"/>
              </a:spcAft>
              <a:defRPr sz="600" b="0">
                <a:solidFill>
                  <a:srgbClr val="FFFFFF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06B6D4"/>
                </a:solidFill>
                <a:latin typeface="Segoe UI"/>
              </a:defRPr>
            </a:pPr>
            <a:r>
              <a:t>VRAM: ~6.9 GB  |  Speed: ~1.6s/step  |  ~2h/epoch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05840"/>
            <a:ext cx="5486400" cy="29260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78BFA"/>
                </a:solidFill>
                <a:latin typeface="Segoe UI"/>
              </a:defRPr>
            </a:pPr>
            <a:r>
              <a:t>Stage 2 — Document-level SFT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Load S1 adapter → optimizer reset</a:t>
            </a: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LR = 5e-5 (lower than S1)</a:t>
            </a: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Cutoff = 4096 (2× S1)</a:t>
            </a:r>
          </a:p>
          <a:p>
            <a:pPr>
              <a:spcAft>
                <a:spcPts val="400"/>
              </a:spcAft>
              <a:defRPr sz="600" b="0">
                <a:solidFill>
                  <a:srgbClr val="FFFFFF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Batch = 2 × 8 accum = 16 effective</a:t>
            </a:r>
          </a:p>
          <a:p>
            <a:pPr>
              <a:spcAft>
                <a:spcPts val="400"/>
              </a:spcAft>
              <a:defRPr sz="1300" b="0">
                <a:solidFill>
                  <a:srgbClr val="CBD5E1"/>
                </a:solidFill>
                <a:latin typeface="Segoe UI"/>
              </a:defRPr>
            </a:pPr>
            <a:r>
              <a:t>10K news images  |  FP16</a:t>
            </a:r>
          </a:p>
          <a:p>
            <a:pPr>
              <a:spcAft>
                <a:spcPts val="400"/>
              </a:spcAft>
              <a:defRPr sz="1300" b="0">
                <a:solidFill>
                  <a:srgbClr val="F59E0B"/>
                </a:solidFill>
                <a:latin typeface="Segoe UI"/>
              </a:defRPr>
            </a:pPr>
            <a:r>
              <a:t>Early stopping: patience = 3</a:t>
            </a:r>
          </a:p>
          <a:p>
            <a:pPr>
              <a:spcAft>
                <a:spcPts val="400"/>
              </a:spcAft>
              <a:defRPr sz="600" b="0">
                <a:solidFill>
                  <a:srgbClr val="FFFFFF"/>
                </a:solidFill>
                <a:latin typeface="Segoe UI"/>
              </a:defRPr>
            </a:pPr>
          </a:p>
          <a:p>
            <a:pPr>
              <a:spcAft>
                <a:spcPts val="400"/>
              </a:spcAft>
              <a:defRPr sz="1200" b="0">
                <a:solidFill>
                  <a:srgbClr val="06B6D4"/>
                </a:solidFill>
                <a:latin typeface="Segoe UI"/>
              </a:defRPr>
            </a:pPr>
            <a:r>
              <a:t>Eval every 200 steps on 50 val samples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🔑 Key Design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Unfreeze Projector: </a:t>
            </a:r>
            <a:r>
              <a:rPr sz="1300">
                <a:solidFill>
                  <a:srgbClr val="CBD5E1"/>
                </a:solidFill>
                <a:latin typeface="Segoe UI"/>
              </a:rPr>
              <a:t> Build new visual dictionary for VN diacritics, preserve ViT knowledge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constant_with_warmup: </a:t>
            </a:r>
            <a:r>
              <a:rPr sz="1300">
                <a:solidFill>
                  <a:srgbClr val="CBD5E1"/>
                </a:solidFill>
                <a:latin typeface="Segoe UI"/>
              </a:rPr>
              <a:t> Enables training resume without LR decaying to zero (vs. cosine)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Auto-resume on Colab: </a:t>
            </a:r>
            <a:r>
              <a:rPr sz="1300">
                <a:solidFill>
                  <a:srgbClr val="CBD5E1"/>
                </a:solidFill>
                <a:latin typeface="Segoe UI"/>
              </a:rPr>
              <a:t> Detect latest checkpoint on Drive → compute next epoch automatically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meta.json protocol: </a:t>
            </a:r>
            <a:r>
              <a:rPr sz="1300">
                <a:solidFill>
                  <a:srgbClr val="CBD5E1"/>
                </a:solidFill>
                <a:latin typeface="Segoe UI"/>
              </a:rPr>
              <a:t> Generator writes split counts → Notebook reads accurately, no hardcoding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EVALUATION FRAMEWORK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1124711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3936491"/>
                <a:gridCol w="5061204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CER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Character Error Rate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Edit distance / total characters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WER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Word Error Rate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Word-level edit distance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Diacritic Accuracy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Per-group accuracy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7 groups: ă, â, ê, ô, ơ, ư, đ (Wagner-Fischer DP)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False Positive Rate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Spurious diacritics rate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a→ă, e→ê, o→ô, u→ư, d→đ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Word Accuracy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Exact word match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Position-aligned comparison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Exact Match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100% match rate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String comparison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840480"/>
            <a:ext cx="1124712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⚠️  False Positive Rate — Critical metric for production: measures rate of spurious diacritical insertions (e.g., "ma" → "má"). Two anti-bias mechanisms reduce FP: gen_plain_words (10%) + 30% strip diacritics.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29200"/>
            <a:ext cx="1124712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🔬  Wagner-Fischer DP alignment → produces (gt_char, pred_char) pairs → precise per-group diacritic evaluation. Automatic comparison with base model (downloaded from HuggingFace).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Segoe UI"/>
              </a:defRPr>
            </a:pPr>
            <a:r>
              <a:t>📊 Generated Datasets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956005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539"/>
                <a:gridCol w="1012240"/>
                <a:gridCol w="674827"/>
                <a:gridCol w="674827"/>
                <a:gridCol w="1124712"/>
                <a:gridCol w="1124712"/>
                <a:gridCol w="3149193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Dataset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Train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Test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Total Images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Size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Source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Stage 1 (synthetic)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50,000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100,390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1.76 GB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Dictionary + augmentation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Stage 2 (news)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10,000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10,100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1.07 GB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RSS VNExpress, Tuoi Tre, Thanh Nien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🤖 Fine-tuned Models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9560051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068"/>
                <a:gridCol w="1124712"/>
                <a:gridCol w="1687068"/>
                <a:gridCol w="1687068"/>
                <a:gridCol w="1349654"/>
                <a:gridCol w="2024481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Stage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Dataset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Params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Size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Format</a:t>
                      </a:r>
                    </a:p>
                  </a:txBody>
                  <a:tcPr anchor="ctr"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glm-ocr-vn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Stage 1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50K synthetic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~7.5M trainable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~2.1 GB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safetensors (bf16)</a:t>
                      </a:r>
                    </a:p>
                  </a:txBody>
                  <a:tcPr anchor="ctr">
                    <a:solidFill>
                      <a:srgbClr val="1523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glm-ocr-vn-s2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Stage 2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10K news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~7.5M trainable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~2.1 GB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CBD5E1"/>
                          </a:solidFill>
                          <a:latin typeface="Segoe UI"/>
                        </a:defRPr>
                      </a:pPr>
                      <a:r>
                        <a:t>safetensors (bf16)</a:t>
                      </a:r>
                    </a:p>
                  </a:txBody>
                  <a:tcPr anchor="ctr">
                    <a:solidFill>
                      <a:srgbClr val="1A2B4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846320"/>
            <a:ext cx="112471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Segoe UI"/>
              </a:defRPr>
            </a:pPr>
            <a:r>
              <a:t>💻 Training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GPU: Google Colab T4 (16 GB VRAM, using ~6.9 GB)</a:t>
            </a:r>
          </a:p>
          <a:p>
            <a:pPr>
              <a:spcAft>
                <a:spcPts val="4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Time: ~2 hours/epoch (Stage 1)  |  Framework: LLaMA-Factory</a:t>
            </a:r>
          </a:p>
          <a:p>
            <a:pPr>
              <a:spcAft>
                <a:spcPts val="4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Merge: CPU + bfloat16 → safetensors  |  Deploy: Ollama (context 4096)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47472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B82F6"/>
                </a:solidFill>
                <a:latin typeface="Segoe UI"/>
              </a:defRPr>
            </a:pPr>
            <a:r>
              <a:t>🔀 Merge 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Load base model (CPU, bf16)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Load PEFT LoRA adapter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merge_and_unload() → fuse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Save safetensors + tokenizer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097280"/>
            <a:ext cx="347472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188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🖥️ Local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6459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Single / batch / folder input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Text / Table / Formula Recognition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Auto GPU/CPU (~4 GB VRAM)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max_new_tokens=512, greedy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097280"/>
            <a:ext cx="347472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188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"/>
              </a:defRPr>
            </a:pPr>
            <a:r>
              <a:t>🦂 Ollama Deploy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6459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Auto-generate Modelfile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Context length: 4096 tokens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Template: GLM-OCR chat format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▸  One-command deploy ready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4712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Segoe UI"/>
              </a:defRPr>
            </a:pPr>
            <a:r>
              <a:t>📁 Project 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34840"/>
            <a:ext cx="10881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tools/dataset/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finetune_glm_ocr_vn_1epoch.ipynb    # Training notebook (8 steps)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generate_vietnamese_dataset_v3.py    # Synthetic data generator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crawl_vi_news.py                     # News crawler (Stage 2)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compare_models.py                    # Evaluation script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test_local.py                        # Local inference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merge_lora.py                        # LoRA merger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dictionary/                          # 35K+ Vietnamese words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font_test/                           # 58 fonts validated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vietnamese_ocr/                      # Stage 1: 100K images</a:t>
            </a:r>
          </a:p>
          <a:p>
            <a:pPr>
              <a:spcAft>
                <a:spcPts val="400"/>
              </a:spcAft>
              <a:defRPr sz="1200" b="0">
                <a:solidFill>
                  <a:srgbClr val="CBD5E1"/>
                </a:solidFill>
                <a:latin typeface="Segoe UI"/>
              </a:defRPr>
            </a:pPr>
            <a:r>
              <a:t>  vietnamese_ocr_s2/                   # Stage 2: 10K images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1247120" cy="22860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✅ Key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Synthetic data pipeline: </a:t>
            </a:r>
            <a:r>
              <a:rPr sz="1300">
                <a:solidFill>
                  <a:srgbClr val="CBD5E1"/>
                </a:solidFill>
                <a:latin typeface="Segoe UI"/>
              </a:rPr>
              <a:t> 14 augmentation types, 58 fonts, 7 generators, confusion pairs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Anti-bias dual-layer: </a:t>
            </a:r>
            <a:r>
              <a:rPr sz="1300">
                <a:solidFill>
                  <a:srgbClr val="CBD5E1"/>
                </a:solidFill>
                <a:latin typeface="Segoe UI"/>
              </a:rPr>
              <a:t> gen_plain_words (S1) + 30% strip diacritics (S2) → reduce FP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Two-stage curriculum: </a:t>
            </a:r>
            <a:r>
              <a:rPr sz="1300">
                <a:solidFill>
                  <a:srgbClr val="CBD5E1"/>
                </a:solidFill>
                <a:latin typeface="Segoe UI"/>
              </a:rPr>
              <a:t> Line-level synthetic → Document-level news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Comprehensive evaluation: </a:t>
            </a:r>
            <a:r>
              <a:rPr sz="1300">
                <a:solidFill>
                  <a:srgbClr val="CBD5E1"/>
                </a:solidFill>
                <a:latin typeface="Segoe UI"/>
              </a:rPr>
              <a:t> CER, WER, diacritic accuracy × 7 groups, False Positive rate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3B82F6"/>
                </a:solidFill>
                <a:latin typeface="Segoe UI"/>
              </a:rPr>
              <a:t>Tooling: </a:t>
            </a:r>
            <a:r>
              <a:rPr sz="1300">
                <a:solidFill>
                  <a:srgbClr val="CBD5E1"/>
                </a:solidFill>
                <a:latin typeface="Segoe UI"/>
              </a:rPr>
              <a:t> Font tester, local inference, model comparison, Ollama deploy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11247120" cy="18288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Segoe UI"/>
              </a:defRPr>
            </a:pPr>
            <a:r>
              <a:t>🚀 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Extend to Table Recognition &amp; Formula Recognition for Vietnamese</a:t>
            </a:r>
          </a:p>
          <a:p>
            <a:pPr>
              <a:spcAft>
                <a:spcPts val="3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Collect more domains: invoices, ID cards, contracts</a:t>
            </a:r>
          </a:p>
          <a:p>
            <a:pPr>
              <a:spcAft>
                <a:spcPts val="3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Benchmark on standard datasets (ICDAR, IIIT) for Vietnamese</a:t>
            </a:r>
          </a:p>
          <a:p>
            <a:pPr>
              <a:spcAft>
                <a:spcPts val="3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Compare with Qwen2.5-VL, PaddleOCR-VL, OlmOCR</a:t>
            </a:r>
          </a:p>
          <a:p>
            <a:pPr>
              <a:spcAft>
                <a:spcPts val="3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▸  Optimize inference speed for production 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  <a:latin typeface="Segoe UI"/>
              </a:defRPr>
            </a:pPr>
            <a:r>
              <a:t>for your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657600"/>
            <a:ext cx="27432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Segoe UI"/>
              </a:defRPr>
            </a:pPr>
            <a:r>
              <a:t>Team 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250201052  —  Nguyen Tuan Dung</a:t>
            </a:r>
          </a:p>
          <a:p>
            <a:pPr>
              <a:spcAft>
                <a:spcPts val="40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250201068  —  Nguyen Trong Kien</a:t>
            </a:r>
          </a:p>
          <a:p>
            <a:pPr>
              <a:spcAft>
                <a:spcPts val="40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250201072  —  Pham Nhat Linh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Segoe U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