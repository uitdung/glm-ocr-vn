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NGHIÊN CỨU MÔ HÌNH LIGHTWEIGHT MLLM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CHO OCR TIẾNG VIỆT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4688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Research on Lightweight Multimodal Large Language Models for Vietnamese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474720"/>
            <a:ext cx="64008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3566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Nhóm thực hiện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977639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250201052  —  Nguyễn Tuấn Dũng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250201068  —  Nguyễn Trọng Kiên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250201072  —  Phạm Nhật Linh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Giảng viên hướng dẫn: ............................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rPr dirty="0" err="1"/>
              <a:t>Đại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Công </a:t>
            </a:r>
            <a:r>
              <a:rPr dirty="0" err="1"/>
              <a:t>nghệ</a:t>
            </a:r>
            <a:r>
              <a:rPr dirty="0"/>
              <a:t> Thông Tin  •  Khoa </a:t>
            </a:r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Thông Tin</a:t>
            </a:r>
            <a:r>
              <a:rPr dirty="0"/>
              <a:t>•  </a:t>
            </a:r>
            <a:r>
              <a:rPr dirty="0" err="1"/>
              <a:t>Tháng</a:t>
            </a:r>
            <a:r>
              <a:rPr dirty="0"/>
              <a:t> 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NỘI DUNG TRÌNH BÀY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6400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Giới thiệu &amp; Động cơ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645920"/>
            <a:ext cx="3657600" cy="381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47088"/>
            <a:ext cx="64008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38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Tổng quan về GLM-OCR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395728"/>
            <a:ext cx="3657600" cy="381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2596896"/>
            <a:ext cx="6400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883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Phương pháp Fine-tune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145536"/>
            <a:ext cx="3657600" cy="381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346704"/>
            <a:ext cx="64008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198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381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Xây dựng dữ liệu huấn luyện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895344"/>
            <a:ext cx="3657600" cy="381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096511"/>
            <a:ext cx="640080" cy="548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16966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8795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Huấn luyện &amp; Tối ưu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4645151"/>
            <a:ext cx="3657600" cy="381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6400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919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Đánh giá &amp; Kết quả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394960"/>
            <a:ext cx="3657600" cy="381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1520" y="5596128"/>
            <a:ext cx="64008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6875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Kết luận &amp; Hướng phát triển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GIỚI THIỆU &amp; ĐỘNG CƠ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🔥 Thách thức OCR tiếng Việt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Hệ thống dấu thanh phức tạp: 5 thanh + dấu kép (ă, â, ê, ô, ơ, ư, đ)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Sai 1 dấu → đổi nghĩa hoàn toàn: ma, má, mà, mả, mã, mạ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Mô hình hiện tại (GLM-OCR, Qwen-VL) nhận diện kém dấu Việt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Thiếu dữ liệu pre-train tiếng Việt chất lượng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13048"/>
            <a:ext cx="548640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9044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💡 Giải pháp đề xuất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6168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Fine-tune GLM-OCR (0.9B params) bằng LoRA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Two-stage curriculum learning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Anti-bias: ngăn hallucination dấu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Pipeline hoàn chỉnh: data → train → eval → deploy</a:t>
            </a:r>
          </a:p>
        </p:txBody>
      </p:sp>
      <p:pic>
        <p:nvPicPr>
          <p:cNvPr id="10" name="Picture 9" descr="vlm_ocr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097280"/>
            <a:ext cx="4864608" cy="5001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TÌNH HÌNH NGHIÊN CỨU VLM CHO OCR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1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3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Loại mô hình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Ví dụ tiêu biểu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Đặc điểm chính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OCR truyền thống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Tesseract, PaddleOCR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Pipeline: detect → segment → recognize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VLM Tổng quát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Qwen2.5-VL, GPT-4o, Gemini 2.5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7B–70B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Reasoning mạnh, context dài, tốn tài nguyên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VLM chuyên OCR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GLM-OCR, OlmOCR-2, dots.ocr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0.9B–8B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Tối ưu text extraction, output có cấu trúc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Compact/Efficient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GLM-OCR, PaddleOCR-VL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&lt;1B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Edge deployment, hiệu quả tính toán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198" y="4553712"/>
            <a:ext cx="1124712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78" y="464515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📌 Lựa chọn: GLM-OCR (0.9B) — cân bằng tốt giữa hiệu năng &amp; hiệu quả, phù hợp fine-tune trên Colab T4. Mô hình có MTP (Multi-Token Prediction) tăng 50% inference throughput, kiến trúc 3 phần rõ ràng cho phép freeze/unfreeze linh hoạt.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KIẾN TRÚC GLM-OCR</a:t>
            </a:r>
          </a:p>
        </p:txBody>
      </p:sp>
      <p:pic>
        <p:nvPicPr>
          <p:cNvPr id="4" name="Picture 3" descr="glm_oc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784848" cy="46542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91440"/>
            <a:ext cx="347472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82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CogViT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85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0.4B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005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24 layers, hidden=1024</a:t>
            </a:r>
            <a:br/>
            <a:r>
              <a:t>Patch 14×14, merge=2</a:t>
            </a:r>
            <a:br/>
            <a:r>
              <a:t>336×336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78380"/>
            <a:ext cx="347472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3698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Cross-Modal</a:t>
            </a:r>
            <a:br/>
            <a:r>
              <a:t>Projector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727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927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Visual → Language</a:t>
            </a:r>
            <a:br/>
            <a:r>
              <a:t>Token downsampling</a:t>
            </a:r>
            <a:br/>
            <a:r>
              <a:t>Unfreeze khi fine-tune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480560"/>
            <a:ext cx="347472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4572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GLM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074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0.5B params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394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16 layers, hidden=1536</a:t>
            </a:r>
            <a:br/>
            <a:r>
              <a:t>GQA 8 KV heads</a:t>
            </a:r>
            <a:br/>
            <a:r>
              <a:t>MTP: 5.2 tokens/step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PHƯƠNG PHÁP LoRA</a:t>
            </a:r>
          </a:p>
        </p:txBody>
      </p:sp>
      <p:pic>
        <p:nvPicPr>
          <p:cNvPr id="4" name="Picture 3" descr="lor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04088"/>
            <a:ext cx="5029200" cy="36850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914400"/>
            <a:ext cx="5760720" cy="3200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Cấu hình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 = Wx + ΔWx  =  Wx + BAx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Rank (r) = 16    |    Alpha = 32    |    Dropout = 0.1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Target: all linear layers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(q/k/v/o_proj, gate/up/down_proj, lm_head)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Trainable: ~7.5M / 1.1B = 0.68%  ✅</a:t>
            </a:r>
          </a:p>
          <a:p>
            <a:pPr>
              <a:spcAft>
                <a:spcPts val="400"/>
              </a:spcAft>
              <a:defRPr sz="1300" b="0">
                <a:solidFill>
                  <a:srgbClr val="06B6D4"/>
                </a:solidFill>
                <a:latin typeface="Segoe UI"/>
              </a:defRPr>
            </a:pPr>
            <a:r>
              <a:t>VRAM: chỉ cần ~7 GB (T4 16 GB)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112471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🔑  Freeze </a:t>
            </a:r>
            <a:r>
              <a:rPr dirty="0" err="1"/>
              <a:t>ViT</a:t>
            </a:r>
            <a:r>
              <a:rPr dirty="0"/>
              <a:t> + Unfreeze Projector →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"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điển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giác</a:t>
            </a:r>
            <a:r>
              <a:rPr dirty="0"/>
              <a:t>"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Việt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giác</a:t>
            </a:r>
            <a:r>
              <a:rPr dirty="0"/>
              <a:t> pre-train. Projector </a:t>
            </a:r>
            <a:r>
              <a:rPr dirty="0" err="1"/>
              <a:t>ánh</a:t>
            </a:r>
            <a:r>
              <a:rPr dirty="0"/>
              <a:t> </a:t>
            </a:r>
            <a:r>
              <a:rPr dirty="0" err="1"/>
              <a:t>xạ</a:t>
            </a:r>
            <a:r>
              <a:rPr dirty="0"/>
              <a:t> visual features → </a:t>
            </a:r>
            <a:r>
              <a:rPr dirty="0" err="1"/>
              <a:t>nhiều</a:t>
            </a:r>
            <a:r>
              <a:rPr dirty="0"/>
              <a:t> tokens ("Nguyễn" = 3 tokens).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86400"/>
            <a:ext cx="54864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Stage 1: Line-level SFT</a:t>
            </a:r>
            <a:br/>
            <a:r>
              <a:t>50K synthetic · LR 1e-4 · Cutoff 2048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486400"/>
            <a:ext cx="54864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5577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Stage 2: Document-level SFT</a:t>
            </a:r>
            <a:br/>
            <a:r>
              <a:t>10K news · LR 5e-5 · Cutoff 4096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XÂY DỰNG DỮ LIỆU HUẤN LUYỆN</a:t>
            </a:r>
          </a:p>
        </p:txBody>
      </p:sp>
      <p:pic>
        <p:nvPicPr>
          <p:cNvPr id="4" name="Picture 3" descr="finetun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822960"/>
            <a:ext cx="48006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840480"/>
            <a:ext cx="548640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Stage 1: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35.501 từ điển + 3.544 từ khó (dấu kép)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58 font Windows đã verify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7 loại mẫu sinh đa dạng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14 augmentation types (40% no-aug)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Output: 50K train + 100 val + 100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48640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Stage 2: News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15 RSS feeds: VNExpress, Tuổi Trẻ, Thanh Niên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Pipeline: RSS → fetch → filter → chunk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30% strip diacritics (anti-hallucination)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Augmentation nhẹ: blur, noise, jpeg, rotate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Output: 10K train + 50 val + 100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7 LOẠI MẪU SINH DỮ LIỆU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6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6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Generator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Tỷ lệ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tả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Mục đích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gen_word_list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8-16 từ ngẫu nhiên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Đa dạng từ vựng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gen_phrase_list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2-4 cụm từ + dấu phẩy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Học cụm từ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gen_confusion_pair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Cặp từ gần giống (dist=1)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Phân biệt dấu fine-grained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gen_grouped_words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Từ cùng nhóm dấu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Tập trung nhóm ă, â, ê, ô, ơ, ư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gen_mixed_line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Cụm từ + từ, 2 dòng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Multi-line layout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gen_dense_sentence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Cụm từ + dấu chấm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Câu phức tạp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gen_plain_words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Trộn có dấu + không dấu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⚠️ Anti-bias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23360"/>
            <a:ext cx="112471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⚠️  Anti-bias Strategy: gen_plain_words (10%) + 30% strip diacritics (Stage 2) → Dạy model KHÔNG tự thêm dấu vào text không dấu (ngăn hallucination). Đo lường bằng False Positive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12080"/>
            <a:ext cx="112471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Confusion Pairs — ví dụ: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chuồng ↔ chuộng  |  lặng ↔ lẫm  |  hổ ↔ hỗ  |  ngã ↔ ngả  |  mật ↔ mịt</a:t>
            </a:r>
            <a:br/>
            <a:r>
              <a:t>→ Tối đa 5.000 cặp (edit distance = 1), giúp model phân biệt fine-grained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DATA AUGMENTATION — 14 LOẠI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7648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Loại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Thông số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phỏng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Loại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Thông số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phỏng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Gaussian Blur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R=0.3-0.8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Mờ camera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Shadow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 hướng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Bóng đổ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Gaussian Noise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I=15-35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Nhiễu ảnh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Glare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Vùng sáng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Chói sáng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Contrast Up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1.1-1.5×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Sáng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Perspective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2-7%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Méo góc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Contrast Down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0.65-0.9×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Tối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Downscale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0.75-0.92×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Phân giải thấp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JPEG Compress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Q=55-80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Nén ảnh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Wave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2-10px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Trang cong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±3°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Scan nghiêng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Elastic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σ=3-6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Biến dạng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Motion Blur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5-12px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Mờ chuyển động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Defocus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Blur+noise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Lấy nét sai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📊 Phân phối: 40% không augmentation (học dấu sạch) + 60% augmentation ngẫu nhiên (tăng robustness). Stage 2 chỉ dùng 4 loại nhẹ: blur, noise, jpeg, rotate.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HUẤN LUYỆN &amp; TỐI ƯU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926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egoe UI"/>
              </a:defRPr>
            </a:pPr>
            <a:r>
              <a:t>Stage 1 — Line-level SFT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LoRA: r=16, α=32, dropout=0.1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Target: all linear layers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freeze_vision = true  |  freeze_projector = false 🔓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LR = 1e-4  |  Scheduler = constant_with_warmup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Batch = 8 × 8 accum = 64 effective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FP16  |  Cutoff 2048  |  50K samples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solidFill>
                  <a:srgbClr val="06B6D4"/>
                </a:solidFill>
                <a:latin typeface="Segoe UI"/>
              </a:defRPr>
            </a:pPr>
            <a:r>
              <a:t>VRAM: ~6.9 GB  |  Speed: ~1.6s/step  |  ~2h/epoch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2926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Stage 2 — Document-level SFT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Load S1 adapter → optimizer reset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LR = 5e-5 (thấp hơn S1)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Cutoff = 4096 (gấp đôi S1)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Batch = 2 × 8 accum = 16 effective</a:t>
            </a:r>
          </a:p>
          <a:p>
            <a:pPr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10K news images  |  FP16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  <a:latin typeface="Segoe UI"/>
              </a:defRPr>
            </a:pPr>
            <a:r>
              <a:t>Early stopping: patience = 3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solidFill>
                  <a:srgbClr val="06B6D4"/>
                </a:solidFill>
                <a:latin typeface="Segoe UI"/>
              </a:defRPr>
            </a:pPr>
            <a:r>
              <a:t>Eval mỗi 200 steps on 50 val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🔑 Quyết định thiết kế quan trọng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Unfreeze Projector: </a:t>
            </a:r>
            <a:r>
              <a:rPr sz="1300">
                <a:solidFill>
                  <a:srgbClr val="CBD5E1"/>
                </a:solidFill>
                <a:latin typeface="Segoe UI"/>
              </a:rPr>
              <a:t> Xây dựng từ điển thị giác mới cho dấu VN, giữ nguyên ViT knowledge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constant_with_warmup: </a:t>
            </a:r>
            <a:r>
              <a:rPr sz="1300">
                <a:solidFill>
                  <a:srgbClr val="CBD5E1"/>
                </a:solidFill>
                <a:latin typeface="Segoe UI"/>
              </a:rPr>
              <a:t> Cho phép resume training mà LR không giảm về 0 (khác cosine)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Auto-resume trên Colab: </a:t>
            </a:r>
            <a:r>
              <a:rPr sz="1300">
                <a:solidFill>
                  <a:srgbClr val="CBD5E1"/>
                </a:solidFill>
                <a:latin typeface="Segoe UI"/>
              </a:rPr>
              <a:t> Detect checkpoint cuối trên Drive → tính epoch tiếp theo tự động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meta.json protocol: </a:t>
            </a:r>
            <a:r>
              <a:rPr sz="1300">
                <a:solidFill>
                  <a:srgbClr val="CBD5E1"/>
                </a:solidFill>
                <a:latin typeface="Segoe UI"/>
              </a:rPr>
              <a:t> Generator ghi split counts → Notebook đọc chính xác, không hardcode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HỆ THỐNG ĐÁNH GIÁ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1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tả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Phương pháp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CER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Character Error Rate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Edit distance / tổng ký tự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WER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Word Error Rate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Word-level edit distance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Diacritic Accuracy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Độ chính xác theo nhóm dấu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 nhóm: ă, â, ê, ô, ơ, ư, đ (Wagner-Fischer DP)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Tỷ lệ thêm dấu sai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a→ă, e→ê, o→ô, u→ư, d→đ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Word Accuracy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Khớp chính xác theo vị trí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Word-aligned comparison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 Match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Tỷ lệ khớp 100%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String comparison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⚠️  False Positive Rate — Metric quan trọng cho production: đo tỷ lệ model tự thêm dấu sai (vd: "ma" → "má"). Hai cơ chế anti-bias giảm FP: gen_plain_words (10%) + 30% strip diacritics.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🔬  Wagner-Fischer DP alignment → tạo (gt_char, pred_char) pairs → đánh giá chính xác từng nhóm dấu độc lập. So sánh tự động với base model gốc (download từ HuggingFace).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📊 Dataset đã tạo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95600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91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Train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Tổng ảnh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Dung lượng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Nguồn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Stage 1 (synthetic)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50.000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100.390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1.76 GB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Từ điển + augmentation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Stage 2 (news)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10.000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10.100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1.07 GB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RSS VNExpress, Tuổi Trẻ, Thanh Niên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🤖 Mô hình đã fine-tune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956005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44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Dung lượng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Format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glm-ocr-vn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Stage 1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50K synthetic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~7.5M trainable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~2.1 GB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safetensors (bf16)</a:t>
                      </a:r>
                    </a:p>
                  </a:txBody>
                  <a:tcPr anchor="ctr">
                    <a:solidFill>
                      <a:srgbClr val="15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glm-ocr-vn-s2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Stage 2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10K news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~7.5M trainable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~2.1 GB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safetensors (bf16)</a:t>
                      </a:r>
                    </a:p>
                  </a:txBody>
                  <a:tcPr anchor="ctr"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💻 Tài nguyên huấn luyện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GPU: Google Colab T4 (16 GB VRAM, dùng ~6.9 GB)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Thời gian: ~2 giờ/epoch (Stage 1)  |  Framework: LLaMA-Factory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Merge: CPU + bfloat16 → safetensors  |  Deploy: Ollama (context 4096)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TRIỂN KHAI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🔀 Merge LoRA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Load base model (CPU, bf16)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Load PEFT LoRA adapter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merge_and_unload() → fuse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Lưu safetensors + tokenizer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🖥️ Local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1 ảnh / nhiều ảnh / thư mục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Text / Table / Formula Recognition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Auto GPU/CPU (~4 GB VRAM)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max_new_tokens=512, greedy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47472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🦙 Ollama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Auto-generate Modelfile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Context length: 4096 tokens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Template: GLM-OCR chat format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▸  1 lệnh deploy → sẵn sàng dùng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KẾT LUẬN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✅ Đóng góp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Pipeline synthetic data:</a:t>
            </a:r>
            <a:r>
              <a:rPr sz="1300">
                <a:solidFill>
                  <a:srgbClr val="CBD5E1"/>
                </a:solidFill>
                <a:latin typeface="Segoe UI"/>
              </a:rPr>
              <a:t> 14 augmentation, 58 fonts, 7 generators, confusion pairs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Anti-bias dual-layer:</a:t>
            </a:r>
            <a:r>
              <a:rPr sz="1300">
                <a:solidFill>
                  <a:srgbClr val="CBD5E1"/>
                </a:solidFill>
                <a:latin typeface="Segoe UI"/>
              </a:rPr>
              <a:t> gen_plain_words (S1) + 30% strip diacritics (S2) → giảm FP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Two-stage curriculum:</a:t>
            </a:r>
            <a:r>
              <a:rPr sz="1300">
                <a:solidFill>
                  <a:srgbClr val="CBD5E1"/>
                </a:solidFill>
                <a:latin typeface="Segoe UI"/>
              </a:rPr>
              <a:t> Line-level synthetic → Document-level news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Đánh giá toàn diện:</a:t>
            </a:r>
            <a:r>
              <a:rPr sz="1300">
                <a:solidFill>
                  <a:srgbClr val="CBD5E1"/>
                </a:solidFill>
                <a:latin typeface="Segoe UI"/>
              </a:rPr>
              <a:t> CER, WER, diacritic accuracy × 7 nhóm, False Positive rate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Tooling:</a:t>
            </a:r>
            <a:r>
              <a:rPr sz="1300">
                <a:solidFill>
                  <a:srgbClr val="CBD5E1"/>
                </a:solidFill>
                <a:latin typeface="Segoe UI"/>
              </a:rPr>
              <a:t> Font tester, local inference, model comparison, Ollama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1124712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🚀 Hướng phát triển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Mở rộng Table Recognition &amp; Formula Recognition cho tiếng Việt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Thu thập thêm: hóa đơn, CMND/CCCD, hợp đồng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Benchmark trên dataset chuẩn (ICDAR, IIIT) cho tiếng Việt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So sánh với Qwen2.5-VL, PaddleOCR-VL, OlmOCR</a:t>
            </a:r>
          </a:p>
          <a:p>
            <a:pPr>
              <a:spcAft>
                <a:spcPts val="3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▸  Tối ưu inference speed cho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CẢM ƠN THẦY/CÔ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đã lắng nghe bài thuyết trình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Nhóm thực 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250201052  —  Nguyễn Tuấn Dũng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250201068  —  Nguyễn Trọng Kiên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250201072  —  Phạm Nhật Linh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1888</Words>
  <Application>Microsoft Office PowerPoint</Application>
  <PresentationFormat>Widescreen</PresentationFormat>
  <Paragraphs>334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Dung</cp:lastModifiedBy>
  <cp:revision>3</cp:revision>
  <dcterms:created xsi:type="dcterms:W3CDTF">2013-01-27T09:14:16Z</dcterms:created>
  <dcterms:modified xsi:type="dcterms:W3CDTF">2026-05-29T09:47:09Z</dcterms:modified>
  <cp:category/>
</cp:coreProperties>
</file>