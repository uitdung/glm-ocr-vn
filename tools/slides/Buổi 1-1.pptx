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7" r:id="rId4"/>
    <p:sldId id="268" r:id="rId5"/>
    <p:sldId id="269" r:id="rId6"/>
    <p:sldId id="275" r:id="rId7"/>
    <p:sldId id="277" r:id="rId8"/>
    <p:sldId id="278" r:id="rId9"/>
    <p:sldId id="279" r:id="rId10"/>
    <p:sldId id="272" r:id="rId11"/>
    <p:sldId id="273" r:id="rId12"/>
    <p:sldId id="274" r:id="rId1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7FF"/>
    <a:srgbClr val="00C6FF"/>
    <a:srgbClr val="0072FF"/>
    <a:srgbClr val="376DB5"/>
    <a:srgbClr val="1CB5E0"/>
    <a:srgbClr val="000046"/>
    <a:srgbClr val="0A4671"/>
    <a:srgbClr val="114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5"/>
    <p:restoredTop sz="94658"/>
  </p:normalViewPr>
  <p:slideViewPr>
    <p:cSldViewPr snapToGrid="0">
      <p:cViewPr varScale="1">
        <p:scale>
          <a:sx n="116" d="100"/>
          <a:sy n="116" d="100"/>
        </p:scale>
        <p:origin x="9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15/4/26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72600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24213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5400000" scaled="1"/>
                </a:gra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April 15,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April 15,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April 15, 2026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April 15,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233824"/>
            <a:ext cx="10579654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April 15, 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effectLst>
            <a:innerShdw blurRad="114300">
              <a:schemeClr val="bg1"/>
            </a:inn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kietnv@uit.edu.vn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colorado.edu/~martin/" TargetMode="External"/><Relationship Id="rId2" Type="http://schemas.openxmlformats.org/officeDocument/2006/relationships/hyperlink" Target="http://web.stanford.edu/people/jurafsky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hyperlink" Target="https://web.stanford.edu/~jurafsky/slp3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clanthology.org/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scimagojr.com/" TargetMode="External"/><Relationship Id="rId4" Type="http://schemas.openxmlformats.org/officeDocument/2006/relationships/hyperlink" Target="http://portal.core.edu.au/conf-rank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clanthology.org/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CHYÊN ĐỀ VỀ X</a:t>
            </a:r>
            <a:r>
              <a:rPr lang="en-VN" dirty="0"/>
              <a:t>Ử LÝ NGÔN NGỮ TỰ NHIÊN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VN" dirty="0"/>
              <a:t>GIỚI THIỆU MÔN HỌC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1E838D-0A6A-9FC0-FE43-B7160A7D0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VN" dirty="0"/>
              <a:t>NGUYỄN VĂN KIỆT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FA386E-A6EB-6AFC-A9FF-9DA3B875EA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Giới thiệu giảng viên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52500" lvl="1" indent="-514350">
              <a:buFont typeface="Wingdings" pitchFamily="2" charset="2"/>
              <a:buChar char="v"/>
            </a:pPr>
            <a:r>
              <a:rPr lang="en-US" altLang="en-US" dirty="0" err="1"/>
              <a:t>Họ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: </a:t>
            </a:r>
            <a:r>
              <a:rPr lang="en-US" altLang="en-US" dirty="0" err="1"/>
              <a:t>Nguyễn</a:t>
            </a:r>
            <a:r>
              <a:rPr lang="en-US" altLang="en-US" dirty="0"/>
              <a:t> </a:t>
            </a:r>
            <a:r>
              <a:rPr lang="en-US" altLang="en-US" dirty="0" err="1"/>
              <a:t>Văn</a:t>
            </a:r>
            <a:r>
              <a:rPr lang="en-US" altLang="en-US" dirty="0"/>
              <a:t> </a:t>
            </a:r>
            <a:r>
              <a:rPr lang="en-US" altLang="en-US" dirty="0" err="1"/>
              <a:t>Kiệt</a:t>
            </a:r>
            <a:r>
              <a:rPr lang="en-US" altLang="en-US" dirty="0"/>
              <a:t>.</a:t>
            </a:r>
          </a:p>
          <a:p>
            <a:pPr marL="952500" lvl="1" indent="-514350">
              <a:buFont typeface="Wingdings" pitchFamily="2" charset="2"/>
              <a:buChar char="v"/>
            </a:pPr>
            <a:r>
              <a:rPr lang="en-US" altLang="en-US" dirty="0"/>
              <a:t>Email: </a:t>
            </a:r>
            <a:r>
              <a:rPr lang="en-US" altLang="en-US" dirty="0">
                <a:hlinkClick r:id="rId2"/>
              </a:rPr>
              <a:t>kietnv@uit.edu.vn</a:t>
            </a:r>
            <a:endParaRPr lang="en-US" altLang="en-US" dirty="0"/>
          </a:p>
          <a:p>
            <a:pPr marL="952500" lvl="1" indent="-514350">
              <a:buFont typeface="Wingdings" pitchFamily="2" charset="2"/>
              <a:buChar char="v"/>
            </a:pP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môn</a:t>
            </a:r>
            <a:r>
              <a:rPr lang="en-US" altLang="en-US" dirty="0"/>
              <a:t>: Khoa </a:t>
            </a:r>
            <a:r>
              <a:rPr lang="en-US" altLang="en-US" dirty="0" err="1"/>
              <a:t>học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, Khoa KH&amp;KTT, </a:t>
            </a:r>
            <a:r>
              <a:rPr lang="en-US" altLang="en-US" dirty="0" err="1"/>
              <a:t>Trường</a:t>
            </a:r>
            <a:r>
              <a:rPr lang="en-US" altLang="en-US" dirty="0"/>
              <a:t> </a:t>
            </a:r>
            <a:r>
              <a:rPr lang="en-US" altLang="en-US" dirty="0" err="1"/>
              <a:t>Đại</a:t>
            </a:r>
            <a:r>
              <a:rPr lang="en-US" altLang="en-US" dirty="0"/>
              <a:t> </a:t>
            </a:r>
            <a:r>
              <a:rPr lang="en-US" altLang="en-US" dirty="0" err="1"/>
              <a:t>học</a:t>
            </a:r>
            <a:r>
              <a:rPr lang="en-US" altLang="en-US" dirty="0"/>
              <a:t> </a:t>
            </a:r>
            <a:r>
              <a:rPr lang="en-US" altLang="en-US" dirty="0" err="1"/>
              <a:t>Công</a:t>
            </a:r>
            <a:r>
              <a:rPr lang="en-US" altLang="en-US" dirty="0"/>
              <a:t> </a:t>
            </a:r>
            <a:r>
              <a:rPr lang="en-US" altLang="en-US" dirty="0" err="1"/>
              <a:t>nghệ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tin</a:t>
            </a:r>
          </a:p>
          <a:p>
            <a:pPr marL="952500" lvl="1" indent="-514350">
              <a:buFont typeface="Wingdings" pitchFamily="2" charset="2"/>
              <a:buChar char="v"/>
            </a:pPr>
            <a:r>
              <a:rPr lang="en-US" altLang="en-US" dirty="0" err="1"/>
              <a:t>Chuyên</a:t>
            </a:r>
            <a:r>
              <a:rPr lang="en-US" altLang="en-US" dirty="0"/>
              <a:t> </a:t>
            </a:r>
            <a:r>
              <a:rPr lang="en-US" altLang="en-US" dirty="0" err="1"/>
              <a:t>môn</a:t>
            </a:r>
            <a:r>
              <a:rPr lang="en-US" altLang="en-US" dirty="0"/>
              <a:t>:</a:t>
            </a:r>
          </a:p>
          <a:p>
            <a:pPr marL="1349375" lvl="2" indent="-514350" algn="just">
              <a:buFont typeface="Wingdings" pitchFamily="2" charset="2"/>
              <a:buChar char="v"/>
            </a:pPr>
            <a:r>
              <a:rPr lang="en-US" altLang="en-US" sz="2400" dirty="0" err="1"/>
              <a:t>Môn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học</a:t>
            </a:r>
            <a:r>
              <a:rPr lang="en-US" altLang="en-US" sz="2400" dirty="0"/>
              <a:t>: </a:t>
            </a:r>
            <a:r>
              <a:rPr lang="en-US" altLang="en-US" sz="2400" dirty="0" err="1"/>
              <a:t>Công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nghệ</a:t>
            </a:r>
            <a:r>
              <a:rPr lang="en-US" altLang="en-US" sz="2400" dirty="0"/>
              <a:t> Java, </a:t>
            </a:r>
            <a:r>
              <a:rPr lang="en-US" altLang="en-US" sz="2400" dirty="0" err="1"/>
              <a:t>Phương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pháp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nghiên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cứu</a:t>
            </a:r>
            <a:r>
              <a:rPr lang="en-US" altLang="en-US" sz="2400" dirty="0"/>
              <a:t> khoa </a:t>
            </a:r>
            <a:r>
              <a:rPr lang="en-US" altLang="en-US" sz="2400" dirty="0" err="1"/>
              <a:t>học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Khai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liệu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truyền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thông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Xử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lý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ngôn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nhiên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Giới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thiệu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ngành</a:t>
            </a:r>
            <a:r>
              <a:rPr lang="en-US" altLang="en-US" sz="2400" dirty="0"/>
              <a:t> Khoa </a:t>
            </a:r>
            <a:r>
              <a:rPr lang="en-US" altLang="en-US" sz="2400" dirty="0" err="1"/>
              <a:t>học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liệu</a:t>
            </a:r>
            <a:r>
              <a:rPr lang="en-US" altLang="en-US" sz="2400" dirty="0"/>
              <a:t> …</a:t>
            </a:r>
          </a:p>
          <a:p>
            <a:pPr marL="1349375" lvl="2" indent="-514350" algn="just">
              <a:buFont typeface="Wingdings" pitchFamily="2" charset="2"/>
              <a:buChar char="v"/>
            </a:pPr>
            <a:r>
              <a:rPr lang="en-US" altLang="en-US" sz="2400" dirty="0" err="1"/>
              <a:t>Chủ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đề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nghiên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cứu</a:t>
            </a:r>
            <a:r>
              <a:rPr lang="en-US" altLang="en-US" sz="2400" dirty="0"/>
              <a:t>: </a:t>
            </a:r>
            <a:r>
              <a:rPr lang="en-US" altLang="en-US" sz="2400" dirty="0" err="1"/>
              <a:t>Xử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lý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ngôn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nhiên</a:t>
            </a:r>
            <a:endParaRPr lang="en-V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3413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NLP?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52500" lvl="1" indent="-514350">
              <a:buFont typeface="Wingdings" pitchFamily="2" charset="2"/>
              <a:buChar char="v"/>
            </a:pPr>
            <a:r>
              <a:rPr lang="en-US" altLang="vi-VN" dirty="0" err="1"/>
              <a:t>Khám</a:t>
            </a:r>
            <a:r>
              <a:rPr lang="en-US" altLang="vi-VN" dirty="0"/>
              <a:t> </a:t>
            </a:r>
            <a:r>
              <a:rPr lang="en-US" altLang="vi-VN" dirty="0" err="1"/>
              <a:t>phá</a:t>
            </a:r>
            <a:r>
              <a:rPr lang="en-US" altLang="vi-VN" dirty="0"/>
              <a:t> </a:t>
            </a:r>
            <a:r>
              <a:rPr lang="en-US" altLang="vi-VN" dirty="0" err="1"/>
              <a:t>những</a:t>
            </a:r>
            <a:r>
              <a:rPr lang="en-US" altLang="vi-VN" dirty="0"/>
              <a:t> </a:t>
            </a:r>
            <a:r>
              <a:rPr lang="en-US" altLang="vi-VN" dirty="0" err="1"/>
              <a:t>thông</a:t>
            </a:r>
            <a:r>
              <a:rPr lang="en-US" altLang="vi-VN" dirty="0"/>
              <a:t> tin </a:t>
            </a:r>
            <a:r>
              <a:rPr lang="en-US" altLang="vi-VN" dirty="0" err="1"/>
              <a:t>và</a:t>
            </a:r>
            <a:r>
              <a:rPr lang="en-US" altLang="vi-VN" dirty="0"/>
              <a:t> tri </a:t>
            </a:r>
            <a:r>
              <a:rPr lang="en-US" altLang="vi-VN" dirty="0" err="1"/>
              <a:t>thức</a:t>
            </a:r>
            <a:r>
              <a:rPr lang="en-US" altLang="vi-VN" dirty="0"/>
              <a:t> </a:t>
            </a:r>
            <a:r>
              <a:rPr lang="en-US" altLang="vi-VN" dirty="0" err="1"/>
              <a:t>mới</a:t>
            </a:r>
            <a:r>
              <a:rPr lang="en-US" altLang="vi-VN" dirty="0"/>
              <a:t> </a:t>
            </a:r>
            <a:r>
              <a:rPr lang="en-US" altLang="vi-VN" dirty="0" err="1"/>
              <a:t>từ</a:t>
            </a:r>
            <a:r>
              <a:rPr lang="en-US" altLang="vi-VN" dirty="0"/>
              <a:t> </a:t>
            </a:r>
            <a:r>
              <a:rPr lang="en-US" altLang="vi-VN" dirty="0" err="1"/>
              <a:t>dữ</a:t>
            </a:r>
            <a:r>
              <a:rPr lang="en-US" altLang="vi-VN" dirty="0"/>
              <a:t> </a:t>
            </a:r>
            <a:r>
              <a:rPr lang="en-US" altLang="vi-VN" dirty="0" err="1"/>
              <a:t>liệu</a:t>
            </a:r>
            <a:r>
              <a:rPr lang="en-US" altLang="vi-VN" dirty="0"/>
              <a:t> </a:t>
            </a:r>
            <a:r>
              <a:rPr lang="en-US" altLang="vi-VN" dirty="0" err="1"/>
              <a:t>văn</a:t>
            </a:r>
            <a:r>
              <a:rPr lang="en-US" altLang="vi-VN" dirty="0"/>
              <a:t> </a:t>
            </a:r>
            <a:r>
              <a:rPr lang="en-US" altLang="vi-VN" dirty="0" err="1"/>
              <a:t>bản</a:t>
            </a:r>
            <a:endParaRPr lang="en-US" altLang="vi-VN" dirty="0"/>
          </a:p>
          <a:p>
            <a:pPr marL="952500" lvl="1" indent="-514350">
              <a:buFont typeface="Wingdings" pitchFamily="2" charset="2"/>
              <a:buChar char="v"/>
            </a:pPr>
            <a:r>
              <a:rPr lang="en-US" altLang="vi-VN" dirty="0" err="1"/>
              <a:t>Ảnh</a:t>
            </a:r>
            <a:r>
              <a:rPr lang="en-US" altLang="vi-VN" dirty="0"/>
              <a:t> </a:t>
            </a:r>
            <a:r>
              <a:rPr lang="en-US" altLang="vi-VN" dirty="0" err="1"/>
              <a:t>hưởng</a:t>
            </a:r>
            <a:r>
              <a:rPr lang="en-US" altLang="vi-VN" dirty="0"/>
              <a:t> </a:t>
            </a:r>
            <a:r>
              <a:rPr lang="en-US" altLang="vi-VN" dirty="0" err="1"/>
              <a:t>tới</a:t>
            </a:r>
            <a:r>
              <a:rPr lang="en-US" altLang="vi-VN" dirty="0"/>
              <a:t> </a:t>
            </a:r>
            <a:r>
              <a:rPr lang="en-US" altLang="vi-VN" dirty="0" err="1"/>
              <a:t>nhiều</a:t>
            </a:r>
            <a:r>
              <a:rPr lang="en-US" altLang="vi-VN" dirty="0"/>
              <a:t> </a:t>
            </a:r>
            <a:r>
              <a:rPr lang="en-US" altLang="vi-VN" dirty="0" err="1"/>
              <a:t>lĩnh</a:t>
            </a:r>
            <a:r>
              <a:rPr lang="en-US" altLang="vi-VN" dirty="0"/>
              <a:t> </a:t>
            </a:r>
            <a:r>
              <a:rPr lang="en-US" altLang="vi-VN" dirty="0" err="1"/>
              <a:t>vực</a:t>
            </a:r>
            <a:endParaRPr lang="en-US" altLang="vi-VN" dirty="0"/>
          </a:p>
          <a:p>
            <a:pPr marL="952500" lvl="1" indent="-514350">
              <a:buFont typeface="Wingdings" pitchFamily="2" charset="2"/>
              <a:buChar char="v"/>
            </a:pPr>
            <a:r>
              <a:rPr lang="en-US" altLang="vi-VN" dirty="0" err="1"/>
              <a:t>Cơ</a:t>
            </a:r>
            <a:r>
              <a:rPr lang="en-US" altLang="vi-VN" dirty="0"/>
              <a:t> </a:t>
            </a:r>
            <a:r>
              <a:rPr lang="en-US" altLang="vi-VN" dirty="0" err="1"/>
              <a:t>hội</a:t>
            </a:r>
            <a:r>
              <a:rPr lang="en-US" altLang="vi-VN" dirty="0"/>
              <a:t> </a:t>
            </a:r>
            <a:r>
              <a:rPr lang="en-US" altLang="vi-VN" dirty="0" err="1"/>
              <a:t>nghề</a:t>
            </a:r>
            <a:r>
              <a:rPr lang="en-US" altLang="vi-VN" dirty="0"/>
              <a:t> </a:t>
            </a:r>
            <a:r>
              <a:rPr lang="en-US" altLang="vi-VN" dirty="0" err="1"/>
              <a:t>nghiệp</a:t>
            </a:r>
            <a:r>
              <a:rPr lang="en-US" altLang="vi-VN" dirty="0"/>
              <a:t> </a:t>
            </a:r>
            <a:r>
              <a:rPr lang="en-US" altLang="vi-VN" dirty="0" err="1"/>
              <a:t>cao</a:t>
            </a:r>
            <a:endParaRPr lang="en-US" altLang="vi-VN" dirty="0"/>
          </a:p>
          <a:p>
            <a:pPr marL="952500" lvl="1" indent="-514350">
              <a:buFont typeface="Wingdings" pitchFamily="2" charset="2"/>
              <a:buChar char="v"/>
            </a:pPr>
            <a:r>
              <a:rPr lang="en-US" altLang="vi-VN" dirty="0"/>
              <a:t>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99082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altLang="vi-VN" sz="4400" b="1" dirty="0">
                <a:latin typeface="Arial" panose="020B0604020202020204" pitchFamily="34" charset="0"/>
                <a:cs typeface="Arial" panose="020B0604020202020204" pitchFamily="34" charset="0"/>
              </a:rPr>
              <a:t> NLP?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6575" lvl="1" indent="-515938" algn="just">
              <a:buFont typeface="Wingdings" pitchFamily="2" charset="2"/>
              <a:buChar char="v"/>
              <a:defRPr/>
            </a:pPr>
            <a:r>
              <a:rPr lang="en-US" altLang="vi-VN" b="1" dirty="0"/>
              <a:t>MT1: </a:t>
            </a:r>
            <a:r>
              <a:rPr lang="en-US" kern="100" dirty="0" err="1"/>
              <a:t>Giới</a:t>
            </a:r>
            <a:r>
              <a:rPr lang="en-US" kern="100" dirty="0"/>
              <a:t> </a:t>
            </a:r>
            <a:r>
              <a:rPr lang="en-US" kern="100" dirty="0" err="1"/>
              <a:t>thiệu</a:t>
            </a:r>
            <a:r>
              <a:rPr lang="en-US" kern="100" dirty="0"/>
              <a:t> </a:t>
            </a:r>
            <a:r>
              <a:rPr lang="en-US" kern="100" dirty="0" err="1"/>
              <a:t>các</a:t>
            </a:r>
            <a:r>
              <a:rPr lang="en-US" kern="100" dirty="0"/>
              <a:t> </a:t>
            </a:r>
            <a:r>
              <a:rPr lang="en-US" kern="100" dirty="0" err="1"/>
              <a:t>bài</a:t>
            </a:r>
            <a:r>
              <a:rPr lang="en-US" kern="100" dirty="0"/>
              <a:t> </a:t>
            </a:r>
            <a:r>
              <a:rPr lang="en-US" kern="100" dirty="0" err="1"/>
              <a:t>toán</a:t>
            </a:r>
            <a:r>
              <a:rPr lang="en-US" kern="100" dirty="0"/>
              <a:t> </a:t>
            </a:r>
            <a:r>
              <a:rPr lang="en-US" kern="100" dirty="0" err="1"/>
              <a:t>trong</a:t>
            </a:r>
            <a:r>
              <a:rPr lang="en-US" kern="100" dirty="0"/>
              <a:t> </a:t>
            </a:r>
            <a:r>
              <a:rPr lang="en-US" kern="100" dirty="0" err="1"/>
              <a:t>xử</a:t>
            </a:r>
            <a:r>
              <a:rPr lang="en-US" kern="100" dirty="0"/>
              <a:t> </a:t>
            </a:r>
            <a:r>
              <a:rPr lang="en-US" kern="100" dirty="0" err="1"/>
              <a:t>lý</a:t>
            </a:r>
            <a:r>
              <a:rPr lang="en-US" kern="100" dirty="0"/>
              <a:t> </a:t>
            </a:r>
            <a:r>
              <a:rPr lang="en-US" kern="100" dirty="0" err="1"/>
              <a:t>ngôn</a:t>
            </a:r>
            <a:r>
              <a:rPr lang="en-US" kern="100" dirty="0"/>
              <a:t> </a:t>
            </a:r>
            <a:r>
              <a:rPr lang="en-US" kern="100" dirty="0" err="1"/>
              <a:t>ngữ</a:t>
            </a:r>
            <a:r>
              <a:rPr lang="en-US" kern="100" dirty="0"/>
              <a:t> </a:t>
            </a:r>
            <a:r>
              <a:rPr lang="en-US" kern="100" dirty="0" err="1"/>
              <a:t>tự</a:t>
            </a:r>
            <a:r>
              <a:rPr lang="en-US" kern="100" dirty="0"/>
              <a:t> </a:t>
            </a:r>
            <a:r>
              <a:rPr lang="en-US" kern="100" dirty="0" err="1"/>
              <a:t>nhiên</a:t>
            </a:r>
            <a:r>
              <a:rPr lang="en-US" kern="100" dirty="0"/>
              <a:t>. </a:t>
            </a:r>
            <a:endParaRPr lang="en-US" altLang="vi-VN" dirty="0"/>
          </a:p>
          <a:p>
            <a:pPr marL="536575" lvl="1" indent="-515938" algn="just">
              <a:buFont typeface="Wingdings" pitchFamily="2" charset="2"/>
              <a:buChar char="v"/>
              <a:defRPr/>
            </a:pPr>
            <a:r>
              <a:rPr lang="en-US" altLang="vi-VN" b="1" dirty="0"/>
              <a:t>MT2: </a:t>
            </a:r>
            <a:r>
              <a:rPr lang="en-US" altLang="vi-VN" kern="100" dirty="0" err="1"/>
              <a:t>Xây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dựng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các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mô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hình</a:t>
            </a:r>
            <a:r>
              <a:rPr lang="en-US" altLang="vi-VN" kern="100" dirty="0"/>
              <a:t>/</a:t>
            </a:r>
            <a:r>
              <a:rPr lang="en-US" altLang="vi-VN" kern="100" dirty="0" err="1"/>
              <a:t>hệ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thống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xử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lý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ngôn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ngữ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tự</a:t>
            </a:r>
            <a:r>
              <a:rPr lang="en-US" altLang="vi-VN" kern="100" dirty="0"/>
              <a:t> </a:t>
            </a:r>
            <a:r>
              <a:rPr lang="en-US" altLang="vi-VN" kern="100" dirty="0" err="1"/>
              <a:t>nhiên</a:t>
            </a:r>
            <a:r>
              <a:rPr lang="en-US" altLang="vi-VN" kern="100" dirty="0"/>
              <a:t>.</a:t>
            </a:r>
            <a:endParaRPr lang="en-US" altLang="vi-VN" dirty="0"/>
          </a:p>
          <a:p>
            <a:pPr marL="536575" lvl="1" indent="-515938" algn="just">
              <a:buFont typeface="Wingdings" pitchFamily="2" charset="2"/>
              <a:buChar char="v"/>
              <a:defRPr/>
            </a:pPr>
            <a:r>
              <a:rPr lang="en-US" altLang="vi-VN" b="1" dirty="0"/>
              <a:t>MT3: </a:t>
            </a:r>
            <a:r>
              <a:rPr lang="en-US" kern="100" dirty="0"/>
              <a:t>Rèn </a:t>
            </a:r>
            <a:r>
              <a:rPr lang="en-US" kern="100" dirty="0" err="1"/>
              <a:t>luyện</a:t>
            </a:r>
            <a:r>
              <a:rPr lang="en-US" kern="100" dirty="0"/>
              <a:t> </a:t>
            </a:r>
            <a:r>
              <a:rPr lang="en-US" kern="100" dirty="0" err="1"/>
              <a:t>ngoại</a:t>
            </a:r>
            <a:r>
              <a:rPr lang="en-US" kern="100" dirty="0"/>
              <a:t> </a:t>
            </a:r>
            <a:r>
              <a:rPr lang="en-US" kern="100" dirty="0" err="1"/>
              <a:t>ngữ</a:t>
            </a:r>
            <a:r>
              <a:rPr lang="en-US" kern="100" dirty="0"/>
              <a:t> </a:t>
            </a:r>
            <a:r>
              <a:rPr lang="en-US" kern="100" dirty="0" err="1"/>
              <a:t>và</a:t>
            </a:r>
            <a:r>
              <a:rPr lang="en-US" kern="100" dirty="0"/>
              <a:t> </a:t>
            </a:r>
            <a:r>
              <a:rPr lang="en-US" kern="100" dirty="0" err="1"/>
              <a:t>các</a:t>
            </a:r>
            <a:r>
              <a:rPr lang="en-US" kern="100" dirty="0"/>
              <a:t> </a:t>
            </a:r>
            <a:r>
              <a:rPr lang="en-US" kern="100" dirty="0" err="1"/>
              <a:t>kỹ</a:t>
            </a:r>
            <a:r>
              <a:rPr lang="en-US" kern="100" dirty="0"/>
              <a:t> </a:t>
            </a:r>
            <a:r>
              <a:rPr lang="en-US" kern="100" dirty="0" err="1"/>
              <a:t>năng</a:t>
            </a:r>
            <a:r>
              <a:rPr lang="en-US" kern="100" dirty="0"/>
              <a:t> </a:t>
            </a:r>
            <a:r>
              <a:rPr lang="en-US" kern="100" dirty="0" err="1"/>
              <a:t>nghiên</a:t>
            </a:r>
            <a:r>
              <a:rPr lang="en-US" kern="100" dirty="0"/>
              <a:t> </a:t>
            </a:r>
            <a:r>
              <a:rPr lang="en-US" kern="100" dirty="0" err="1"/>
              <a:t>cứu</a:t>
            </a:r>
            <a:r>
              <a:rPr lang="en-US" kern="100" dirty="0"/>
              <a:t> khoa </a:t>
            </a:r>
            <a:r>
              <a:rPr lang="en-US" kern="100" dirty="0" err="1"/>
              <a:t>học</a:t>
            </a:r>
            <a:r>
              <a:rPr lang="en-US" kern="100" dirty="0"/>
              <a:t>, </a:t>
            </a:r>
            <a:r>
              <a:rPr lang="en-US" kern="100" dirty="0" err="1"/>
              <a:t>làm</a:t>
            </a:r>
            <a:r>
              <a:rPr lang="en-US" kern="100" dirty="0"/>
              <a:t> </a:t>
            </a:r>
            <a:r>
              <a:rPr lang="en-US" kern="100" dirty="0" err="1"/>
              <a:t>việc</a:t>
            </a:r>
            <a:r>
              <a:rPr lang="en-US" kern="100" dirty="0"/>
              <a:t> </a:t>
            </a:r>
            <a:r>
              <a:rPr lang="en-US" kern="100" dirty="0" err="1"/>
              <a:t>nhóm</a:t>
            </a:r>
            <a:r>
              <a:rPr lang="en-US" kern="100" dirty="0"/>
              <a:t> </a:t>
            </a:r>
            <a:endParaRPr lang="en-VN" kern="100" dirty="0">
              <a:solidFill>
                <a:srgbClr val="000000"/>
              </a:solidFill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51531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52500" lvl="1" indent="-514350">
              <a:buFont typeface="Wingdings" pitchFamily="2" charset="2"/>
              <a:buChar char="v"/>
              <a:defRPr/>
            </a:pPr>
            <a:r>
              <a:rPr lang="en-US" altLang="vi-VN" b="1" u="sng" dirty="0" err="1"/>
              <a:t>Quá</a:t>
            </a:r>
            <a:r>
              <a:rPr lang="en-US" altLang="vi-VN" b="1" u="sng" dirty="0"/>
              <a:t> </a:t>
            </a:r>
            <a:r>
              <a:rPr lang="en-US" altLang="vi-VN" b="1" u="sng" dirty="0" err="1"/>
              <a:t>trình</a:t>
            </a:r>
            <a:r>
              <a:rPr lang="en-US" altLang="vi-VN" b="1" u="sng" dirty="0"/>
              <a:t>:</a:t>
            </a:r>
            <a:r>
              <a:rPr lang="en-US" altLang="vi-VN" dirty="0"/>
              <a:t> 40%</a:t>
            </a:r>
          </a:p>
          <a:p>
            <a:pPr marL="1409700" lvl="2" indent="-514350">
              <a:defRPr/>
            </a:pPr>
            <a:r>
              <a:rPr lang="en-US" altLang="vi-VN" dirty="0" err="1"/>
              <a:t>Điểm</a:t>
            </a:r>
            <a:r>
              <a:rPr lang="en-US" altLang="vi-VN" dirty="0"/>
              <a:t> </a:t>
            </a:r>
            <a:r>
              <a:rPr lang="en-US" altLang="vi-VN" dirty="0" err="1"/>
              <a:t>danh</a:t>
            </a:r>
            <a:endParaRPr lang="en-US" altLang="vi-VN" dirty="0"/>
          </a:p>
          <a:p>
            <a:pPr marL="1409700" lvl="2" indent="-514350">
              <a:defRPr/>
            </a:pPr>
            <a:r>
              <a:rPr lang="en-US" altLang="vi-VN" dirty="0"/>
              <a:t>Seminar: </a:t>
            </a:r>
            <a:r>
              <a:rPr lang="en-US" altLang="vi-VN" dirty="0" err="1"/>
              <a:t>Nghiên</a:t>
            </a:r>
            <a:r>
              <a:rPr lang="en-US" altLang="vi-VN" dirty="0"/>
              <a:t> </a:t>
            </a:r>
            <a:r>
              <a:rPr lang="en-US" altLang="vi-VN" dirty="0" err="1"/>
              <a:t>cứu</a:t>
            </a:r>
            <a:r>
              <a:rPr lang="en-US" altLang="vi-VN" dirty="0"/>
              <a:t> </a:t>
            </a:r>
            <a:r>
              <a:rPr lang="en-US" altLang="vi-VN" dirty="0" err="1"/>
              <a:t>và</a:t>
            </a:r>
            <a:r>
              <a:rPr lang="en-US" altLang="vi-VN" dirty="0"/>
              <a:t> </a:t>
            </a:r>
            <a:r>
              <a:rPr lang="en-US" altLang="vi-VN" dirty="0" err="1"/>
              <a:t>trình</a:t>
            </a:r>
            <a:r>
              <a:rPr lang="en-US" altLang="vi-VN" dirty="0"/>
              <a:t> </a:t>
            </a:r>
            <a:r>
              <a:rPr lang="en-US" altLang="vi-VN" dirty="0" err="1"/>
              <a:t>bày</a:t>
            </a:r>
            <a:r>
              <a:rPr lang="en-US" altLang="vi-VN" dirty="0"/>
              <a:t> 01 BBKH </a:t>
            </a:r>
            <a:r>
              <a:rPr lang="en-US" altLang="vi-VN" dirty="0" err="1"/>
              <a:t>hạng</a:t>
            </a:r>
            <a:r>
              <a:rPr lang="en-US" altLang="vi-VN" dirty="0"/>
              <a:t> A/A* </a:t>
            </a:r>
            <a:r>
              <a:rPr lang="en-US" altLang="vi-VN" dirty="0" err="1"/>
              <a:t>trong</a:t>
            </a:r>
            <a:r>
              <a:rPr lang="en-US" altLang="vi-VN" dirty="0"/>
              <a:t> </a:t>
            </a:r>
            <a:r>
              <a:rPr lang="en-US" altLang="vi-VN" dirty="0" err="1"/>
              <a:t>lĩnh</a:t>
            </a:r>
            <a:r>
              <a:rPr lang="en-US" altLang="vi-VN" dirty="0"/>
              <a:t> </a:t>
            </a:r>
            <a:r>
              <a:rPr lang="en-US" altLang="vi-VN" dirty="0" err="1"/>
              <a:t>vực</a:t>
            </a:r>
            <a:r>
              <a:rPr lang="en-US" altLang="vi-VN" dirty="0"/>
              <a:t> NLP: </a:t>
            </a:r>
            <a:r>
              <a:rPr lang="vi-VN" dirty="0"/>
              <a:t>ACL/EMNLP/NAACL/COLING/EACL </a:t>
            </a:r>
            <a:endParaRPr lang="en-US" altLang="vi-VN" dirty="0"/>
          </a:p>
          <a:p>
            <a:pPr marL="952500" lvl="1" indent="-514350">
              <a:buFont typeface="Wingdings" pitchFamily="2" charset="2"/>
              <a:buChar char="v"/>
              <a:defRPr/>
            </a:pPr>
            <a:r>
              <a:rPr lang="en-US" altLang="vi-VN" b="1" u="sng" dirty="0" err="1"/>
              <a:t>Cuối</a:t>
            </a:r>
            <a:r>
              <a:rPr lang="en-US" altLang="vi-VN" b="1" u="sng" dirty="0"/>
              <a:t> </a:t>
            </a:r>
            <a:r>
              <a:rPr lang="en-US" altLang="vi-VN" b="1" u="sng" dirty="0" err="1"/>
              <a:t>kỳ</a:t>
            </a:r>
            <a:r>
              <a:rPr lang="en-US" altLang="vi-VN" b="1" dirty="0"/>
              <a:t>: 60%</a:t>
            </a:r>
          </a:p>
          <a:p>
            <a:pPr marL="1349375" lvl="2" indent="-514350">
              <a:buFont typeface="Arial" panose="020B0604020202020204" pitchFamily="34" charset="0"/>
              <a:buChar char="•"/>
              <a:defRPr/>
            </a:pPr>
            <a:r>
              <a:rPr lang="en-US" altLang="vi-VN" sz="2400" dirty="0" err="1"/>
              <a:t>Đồ</a:t>
            </a:r>
            <a:r>
              <a:rPr lang="en-US" altLang="vi-VN" sz="2400" dirty="0"/>
              <a:t> </a:t>
            </a:r>
            <a:r>
              <a:rPr lang="en-US" altLang="vi-VN" sz="2400" dirty="0" err="1"/>
              <a:t>án</a:t>
            </a:r>
            <a:r>
              <a:rPr lang="en-US" altLang="vi-VN" sz="2400" dirty="0"/>
              <a:t>.</a:t>
            </a:r>
          </a:p>
          <a:p>
            <a:pPr marL="1738313" lvl="3" indent="-514350">
              <a:buFont typeface="Wingdings" pitchFamily="2" charset="2"/>
              <a:buChar char="ü"/>
              <a:defRPr/>
            </a:pPr>
            <a:r>
              <a:rPr lang="en-US" altLang="vi-VN" sz="2400" dirty="0" err="1"/>
              <a:t>Viết</a:t>
            </a:r>
            <a:r>
              <a:rPr lang="en-US" altLang="vi-VN" sz="2400" dirty="0"/>
              <a:t> </a:t>
            </a:r>
            <a:r>
              <a:rPr lang="en-US" altLang="vi-VN" sz="2400" dirty="0" err="1"/>
              <a:t>báo</a:t>
            </a:r>
            <a:r>
              <a:rPr lang="en-US" altLang="vi-VN" sz="2400" dirty="0"/>
              <a:t> </a:t>
            </a:r>
            <a:r>
              <a:rPr lang="en-US" altLang="vi-VN" sz="2400" dirty="0" err="1"/>
              <a:t>cáo</a:t>
            </a:r>
            <a:r>
              <a:rPr lang="en-US" altLang="vi-VN" sz="2400" dirty="0"/>
              <a:t>: 50%</a:t>
            </a:r>
          </a:p>
          <a:p>
            <a:pPr marL="1738313" lvl="3" indent="-514350">
              <a:buFont typeface="Wingdings" pitchFamily="2" charset="2"/>
              <a:buChar char="ü"/>
              <a:defRPr/>
            </a:pPr>
            <a:r>
              <a:rPr lang="en-US" altLang="vi-VN" sz="2400" dirty="0" err="1"/>
              <a:t>Thuyết</a:t>
            </a:r>
            <a:r>
              <a:rPr lang="en-US" altLang="vi-VN" sz="2400" dirty="0"/>
              <a:t> </a:t>
            </a:r>
            <a:r>
              <a:rPr lang="en-US" altLang="vi-VN" sz="2400" dirty="0" err="1"/>
              <a:t>trình</a:t>
            </a:r>
            <a:r>
              <a:rPr lang="en-US" altLang="vi-VN" sz="2400" dirty="0"/>
              <a:t>: 50%</a:t>
            </a:r>
            <a:r>
              <a:rPr lang="en-US" sz="2400" kern="100" dirty="0"/>
              <a:t> </a:t>
            </a:r>
            <a:endParaRPr lang="en-VN" sz="2400" kern="100" dirty="0">
              <a:solidFill>
                <a:srgbClr val="000000"/>
              </a:solidFill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5F391-C6BA-8FB8-6C26-FA65D9769D54}"/>
              </a:ext>
            </a:extLst>
          </p:cNvPr>
          <p:cNvSpPr txBox="1"/>
          <p:nvPr/>
        </p:nvSpPr>
        <p:spPr>
          <a:xfrm>
            <a:off x="5511701" y="3245512"/>
            <a:ext cx="6357860" cy="242822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VN" sz="2000" dirty="0">
                <a:latin typeface="Arial" panose="020B0604020202020204" pitchFamily="34" charset="0"/>
                <a:cs typeface="Arial" panose="020B0604020202020204" pitchFamily="34" charset="0"/>
              </a:rPr>
              <a:t>Đồ án có 02 lựa chọn:</a:t>
            </a:r>
          </a:p>
          <a:p>
            <a:pPr marL="342900" indent="-34290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AutoNum type="arabicParenR"/>
            </a:pP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Áp dụng các phương pháp NLP tiên tiến cho tiếng Việt, đề xuất phương pháp mới, các phân tích, ablation test hoặc sáng tạo (</a:t>
            </a:r>
            <a:r>
              <a:rPr lang="vi-VN" sz="2000" b="1" dirty="0">
                <a:latin typeface="Arial" panose="020B0604020202020204" pitchFamily="34" charset="0"/>
                <a:cs typeface="Arial" panose="020B0604020202020204" pitchFamily="34" charset="0"/>
              </a:rPr>
              <a:t>rất khuyến khích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AutoNum type="arabicParenR"/>
            </a:pP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Đề tài nghiên cứu khoa học:</a:t>
            </a:r>
          </a:p>
          <a:p>
            <a:pPr marL="800100" lvl="1" indent="-34290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Phát triển thành đề tài LVThS</a:t>
            </a:r>
            <a:endParaRPr lang="en-V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14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khảo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81050" lvl="1" indent="-342900">
              <a:buFont typeface="Wingdings" pitchFamily="2" charset="2"/>
              <a:buChar char="v"/>
            </a:pPr>
            <a:r>
              <a:rPr lang="en-US" altLang="vi-VN" sz="3000" b="1" dirty="0"/>
              <a:t> </a:t>
            </a:r>
            <a:r>
              <a:rPr lang="en-US" altLang="vi-VN" sz="2600" b="1" u="sng" dirty="0" err="1"/>
              <a:t>Tên</a:t>
            </a:r>
            <a:r>
              <a:rPr lang="en-US" altLang="vi-VN" sz="2600" b="1" u="sng" dirty="0"/>
              <a:t> </a:t>
            </a:r>
            <a:r>
              <a:rPr lang="en-US" altLang="vi-VN" sz="2600" b="1" u="sng" dirty="0" err="1"/>
              <a:t>sách</a:t>
            </a:r>
            <a:r>
              <a:rPr lang="en-US" altLang="vi-VN" sz="2600" dirty="0"/>
              <a:t>: Speech and Language Processing (3rd ed. Draft)</a:t>
            </a:r>
          </a:p>
          <a:p>
            <a:pPr marL="781050" lvl="1" indent="-342900">
              <a:buFont typeface="Wingdings" pitchFamily="2" charset="2"/>
              <a:buChar char="v"/>
            </a:pPr>
            <a:r>
              <a:rPr lang="en-US" altLang="vi-VN" sz="2600" dirty="0"/>
              <a:t> </a:t>
            </a:r>
            <a:r>
              <a:rPr lang="en-US" altLang="vi-VN" sz="2600" b="1" u="sng" dirty="0" err="1"/>
              <a:t>Tác</a:t>
            </a:r>
            <a:r>
              <a:rPr lang="en-US" altLang="vi-VN" sz="2600" b="1" u="sng" dirty="0"/>
              <a:t> </a:t>
            </a:r>
            <a:r>
              <a:rPr lang="en-US" altLang="vi-VN" sz="2600" b="1" u="sng" dirty="0" err="1"/>
              <a:t>giả</a:t>
            </a:r>
            <a:r>
              <a:rPr lang="en-US" altLang="vi-VN" sz="2600" dirty="0"/>
              <a:t>: </a:t>
            </a:r>
            <a:r>
              <a:rPr lang="en-US" sz="2600" b="1" i="0" dirty="0">
                <a:solidFill>
                  <a:srgbClr val="000000"/>
                </a:solidFill>
                <a:effectLst/>
                <a:hlinkClick r:id="rId2"/>
              </a:rPr>
              <a:t>Dan Jurafsky</a:t>
            </a:r>
            <a:r>
              <a:rPr lang="en-US" sz="2600" b="1" i="0" dirty="0">
                <a:solidFill>
                  <a:srgbClr val="000000"/>
                </a:solidFill>
                <a:effectLst/>
              </a:rPr>
              <a:t> and </a:t>
            </a:r>
            <a:r>
              <a:rPr lang="en-US" sz="2600" b="1" i="0" dirty="0">
                <a:solidFill>
                  <a:srgbClr val="000000"/>
                </a:solidFill>
                <a:effectLst/>
                <a:hlinkClick r:id="rId3"/>
              </a:rPr>
              <a:t>James H. Martin</a:t>
            </a:r>
            <a:endParaRPr lang="en-US" sz="2600" b="1" i="0" dirty="0">
              <a:solidFill>
                <a:srgbClr val="000000"/>
              </a:solidFill>
              <a:effectLst/>
            </a:endParaRPr>
          </a:p>
          <a:p>
            <a:pPr marL="781050" lvl="1" indent="-342900">
              <a:buFont typeface="Wingdings" pitchFamily="2" charset="2"/>
              <a:buChar char="v"/>
            </a:pPr>
            <a:r>
              <a:rPr lang="en-US" sz="2600" b="1" dirty="0">
                <a:solidFill>
                  <a:srgbClr val="000000"/>
                </a:solidFill>
              </a:rPr>
              <a:t> </a:t>
            </a:r>
            <a:r>
              <a:rPr lang="en-US" sz="2600" b="1" u="sng" dirty="0">
                <a:solidFill>
                  <a:srgbClr val="000000"/>
                </a:solidFill>
              </a:rPr>
              <a:t>Link</a:t>
            </a:r>
            <a:r>
              <a:rPr lang="en-US" sz="2600" dirty="0">
                <a:solidFill>
                  <a:srgbClr val="000000"/>
                </a:solidFill>
              </a:rPr>
              <a:t>: </a:t>
            </a:r>
            <a:r>
              <a:rPr lang="en-US" sz="2600" dirty="0">
                <a:solidFill>
                  <a:srgbClr val="000000"/>
                </a:solidFill>
                <a:hlinkClick r:id="rId4"/>
              </a:rPr>
              <a:t>https://web.stanford.edu/~jurafsky/slp3/</a:t>
            </a:r>
            <a:r>
              <a:rPr lang="en-US" sz="26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  <p:pic>
        <p:nvPicPr>
          <p:cNvPr id="9" name="Picture 8" descr="A book cover of an overview of language processing&#10;&#10;Description automatically generated">
            <a:extLst>
              <a:ext uri="{FF2B5EF4-FFF2-40B4-BE49-F238E27FC236}">
                <a16:creationId xmlns:a16="http://schemas.microsoft.com/office/drawing/2014/main" id="{10A20560-B077-3850-9317-8015F32BE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153" y="2613189"/>
            <a:ext cx="2374900" cy="317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3016B6-0898-397F-4DFF-D39924EDA47D}"/>
              </a:ext>
            </a:extLst>
          </p:cNvPr>
          <p:cNvSpPr txBox="1"/>
          <p:nvPr/>
        </p:nvSpPr>
        <p:spPr>
          <a:xfrm>
            <a:off x="9273470" y="6031595"/>
            <a:ext cx="1522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2nd edition</a:t>
            </a:r>
            <a:endParaRPr lang="en-VN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192E14-056B-3EFC-7B72-C6D96A396D60}"/>
              </a:ext>
            </a:extLst>
          </p:cNvPr>
          <p:cNvSpPr txBox="1"/>
          <p:nvPr/>
        </p:nvSpPr>
        <p:spPr>
          <a:xfrm>
            <a:off x="2261050" y="3705393"/>
            <a:ext cx="5794930" cy="1493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Cách tốt nhất để học về NLP</a:t>
            </a:r>
          </a:p>
          <a:p>
            <a:pPr marL="285750" indent="-28575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Đọc bài báo tại các hội nghị/tạp chí top-tier NLP: </a:t>
            </a:r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ACL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EMNLP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NAACL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COLING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EACL/TACL/CL</a:t>
            </a:r>
          </a:p>
          <a:p>
            <a:pPr marL="285750" indent="-28575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Các bài post của các học giả</a:t>
            </a:r>
          </a:p>
        </p:txBody>
      </p:sp>
    </p:spTree>
    <p:extLst>
      <p:ext uri="{BB962C8B-B14F-4D97-AF65-F5344CB8AC3E}">
        <p14:creationId xmlns:p14="http://schemas.microsoft.com/office/powerpoint/2010/main" val="143238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NLP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4" y="1247451"/>
            <a:ext cx="5289828" cy="2074484"/>
          </a:xfrm>
        </p:spPr>
        <p:txBody>
          <a:bodyPr>
            <a:normAutofit fontScale="85000" lnSpcReduction="20000"/>
          </a:bodyPr>
          <a:lstStyle/>
          <a:p>
            <a:pPr marL="781050" lvl="1" indent="-342900" algn="l">
              <a:buFont typeface="Wingdings" pitchFamily="2" charset="2"/>
              <a:buChar char="v"/>
            </a:pPr>
            <a:r>
              <a:rPr lang="en-US" altLang="vi-VN" sz="2000" b="1" dirty="0"/>
              <a:t> </a:t>
            </a:r>
            <a:r>
              <a:rPr lang="en-US" altLang="vi-VN" sz="2000" b="1" u="sng" dirty="0" err="1"/>
              <a:t>Hội</a:t>
            </a:r>
            <a:r>
              <a:rPr lang="en-US" altLang="vi-VN" sz="2000" b="1" u="sng" dirty="0"/>
              <a:t> </a:t>
            </a:r>
            <a:r>
              <a:rPr lang="en-US" altLang="vi-VN" sz="2000" b="1" u="sng" dirty="0" err="1"/>
              <a:t>nghị</a:t>
            </a:r>
            <a:r>
              <a:rPr lang="en-US" altLang="vi-VN" sz="2000" b="1" u="sng" dirty="0"/>
              <a:t> top-tier</a:t>
            </a:r>
            <a:r>
              <a:rPr lang="en-US" altLang="vi-VN" sz="2000" dirty="0"/>
              <a:t>: ACL, EMNLP, NAACL, COLING, EACL</a:t>
            </a:r>
          </a:p>
          <a:p>
            <a:pPr marL="781050" lvl="1" indent="-342900" algn="l">
              <a:buFont typeface="Wingdings" pitchFamily="2" charset="2"/>
              <a:buChar char="v"/>
            </a:pPr>
            <a:r>
              <a:rPr lang="en-US" altLang="vi-VN" sz="2000" dirty="0"/>
              <a:t> </a:t>
            </a:r>
            <a:r>
              <a:rPr lang="en-US" altLang="vi-VN" sz="2000" b="1" u="sng" dirty="0" err="1"/>
              <a:t>Tạp</a:t>
            </a:r>
            <a:r>
              <a:rPr lang="en-US" altLang="vi-VN" sz="2000" b="1" u="sng" dirty="0"/>
              <a:t> </a:t>
            </a:r>
            <a:r>
              <a:rPr lang="en-US" altLang="vi-VN" sz="2000" b="1" u="sng" dirty="0" err="1"/>
              <a:t>chí</a:t>
            </a:r>
            <a:r>
              <a:rPr lang="en-US" altLang="vi-VN" sz="2000" b="1" u="sng" dirty="0"/>
              <a:t> top-tier</a:t>
            </a:r>
            <a:r>
              <a:rPr lang="en-US" altLang="vi-VN" sz="2000" dirty="0"/>
              <a:t>: </a:t>
            </a:r>
            <a:r>
              <a:rPr lang="en-US" sz="2000" i="0" dirty="0">
                <a:solidFill>
                  <a:srgbClr val="000000"/>
                </a:solidFill>
                <a:effectLst/>
              </a:rPr>
              <a:t>TACL, Computational Linguistics</a:t>
            </a:r>
          </a:p>
          <a:p>
            <a:pPr marL="781050" lvl="1" indent="-342900" algn="l">
              <a:buFont typeface="Wingdings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Các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bài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báo</a:t>
            </a:r>
            <a:r>
              <a:rPr lang="en-US" sz="2000" dirty="0">
                <a:solidFill>
                  <a:srgbClr val="000000"/>
                </a:solidFill>
              </a:rPr>
              <a:t> NLP </a:t>
            </a:r>
            <a:r>
              <a:rPr lang="en-US" sz="2000" dirty="0" err="1">
                <a:solidFill>
                  <a:srgbClr val="000000"/>
                </a:solidFill>
              </a:rPr>
              <a:t>có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tại</a:t>
            </a:r>
            <a:r>
              <a:rPr lang="en-US" sz="2000" dirty="0">
                <a:solidFill>
                  <a:srgbClr val="000000"/>
                </a:solidFill>
              </a:rPr>
              <a:t> ACL Anthology: </a:t>
            </a:r>
            <a:r>
              <a:rPr lang="en-US" sz="2000" dirty="0">
                <a:solidFill>
                  <a:srgbClr val="000000"/>
                </a:solidFill>
                <a:hlinkClick r:id="rId2"/>
              </a:rPr>
              <a:t>https://aclanthology.org/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</a:t>
            </a:fld>
            <a:endParaRPr lang="en-V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3016B6-0898-397F-4DFF-D39924EDA47D}"/>
              </a:ext>
            </a:extLst>
          </p:cNvPr>
          <p:cNvSpPr txBox="1"/>
          <p:nvPr/>
        </p:nvSpPr>
        <p:spPr>
          <a:xfrm>
            <a:off x="6063972" y="5662262"/>
            <a:ext cx="3156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Theo Google Scholar 2023</a:t>
            </a:r>
            <a:endParaRPr lang="en-VN" dirty="0">
              <a:solidFill>
                <a:srgbClr val="FF0000"/>
              </a:solidFill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A84A76F-913B-6D25-4E3A-BC1FF2AF7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972" y="1430904"/>
            <a:ext cx="5927375" cy="41796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9C6F76-EF52-5C95-E051-87EFE89BED68}"/>
              </a:ext>
            </a:extLst>
          </p:cNvPr>
          <p:cNvSpPr txBox="1"/>
          <p:nvPr/>
        </p:nvSpPr>
        <p:spPr>
          <a:xfrm>
            <a:off x="1910668" y="3880276"/>
            <a:ext cx="3850157" cy="1545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v"/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Tra hạng hội nghị (A*/A/B/C): </a:t>
            </a:r>
          </a:p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http://portal.core.edu.au/conf-ranks/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v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(Q1/Q2/Q3/Q4):</a:t>
            </a:r>
          </a:p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https://www.scimagojr.com/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88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NLP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4" y="1247451"/>
            <a:ext cx="10430150" cy="592924"/>
          </a:xfrm>
        </p:spPr>
        <p:txBody>
          <a:bodyPr>
            <a:noAutofit/>
          </a:bodyPr>
          <a:lstStyle/>
          <a:p>
            <a:pPr marL="781050" lvl="1" indent="-342900" algn="l">
              <a:buFont typeface="Wingdings" pitchFamily="2" charset="2"/>
              <a:buChar char="v"/>
            </a:pP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Nhà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xuất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bản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b="1" dirty="0">
                <a:solidFill>
                  <a:srgbClr val="000000"/>
                </a:solidFill>
              </a:rPr>
              <a:t>ACL Anthology</a:t>
            </a:r>
            <a:r>
              <a:rPr lang="en-US" sz="3000" dirty="0">
                <a:solidFill>
                  <a:srgbClr val="000000"/>
                </a:solidFill>
              </a:rPr>
              <a:t>: </a:t>
            </a:r>
            <a:r>
              <a:rPr lang="en-US" sz="3000" dirty="0">
                <a:solidFill>
                  <a:srgbClr val="000000"/>
                </a:solidFill>
                <a:hlinkClick r:id="rId2"/>
              </a:rPr>
              <a:t>https://aclanthology.org/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endParaRPr lang="en-US" sz="300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8</a:t>
            </a:fld>
            <a:endParaRPr lang="en-VN" dirty="0"/>
          </a:p>
        </p:txBody>
      </p:sp>
      <p:pic>
        <p:nvPicPr>
          <p:cNvPr id="9" name="Picture 8" descr="A screenshot of a calendar&#10;&#10;Description automatically generated">
            <a:extLst>
              <a:ext uri="{FF2B5EF4-FFF2-40B4-BE49-F238E27FC236}">
                <a16:creationId xmlns:a16="http://schemas.microsoft.com/office/drawing/2014/main" id="{66302F44-FB7B-21E4-C231-0D828BD0B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628" y="2077966"/>
            <a:ext cx="6487776" cy="40994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7DD926-B6D9-3F56-4312-F1E6BAD90FE6}"/>
              </a:ext>
            </a:extLst>
          </p:cNvPr>
          <p:cNvSpPr txBox="1"/>
          <p:nvPr/>
        </p:nvSpPr>
        <p:spPr>
          <a:xfrm>
            <a:off x="9453184" y="3475694"/>
            <a:ext cx="1047018" cy="682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VN"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</a:p>
        </p:txBody>
      </p:sp>
    </p:spTree>
    <p:extLst>
      <p:ext uri="{BB962C8B-B14F-4D97-AF65-F5344CB8AC3E}">
        <p14:creationId xmlns:p14="http://schemas.microsoft.com/office/powerpoint/2010/main" val="3953383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khoa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nổi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tiếng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NLP</a:t>
            </a:r>
            <a:endParaRPr lang="en-VN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4" y="1247451"/>
            <a:ext cx="10430150" cy="3139492"/>
          </a:xfrm>
        </p:spPr>
        <p:txBody>
          <a:bodyPr>
            <a:noAutofit/>
          </a:bodyPr>
          <a:lstStyle/>
          <a:p>
            <a:pPr marL="781050" lvl="1" indent="-342900" algn="l">
              <a:buFont typeface="Wingdings" pitchFamily="2" charset="2"/>
              <a:buChar char="v"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b="1" dirty="0">
                <a:solidFill>
                  <a:srgbClr val="000000"/>
                </a:solidFill>
              </a:rPr>
              <a:t>Christopher Manning</a:t>
            </a:r>
            <a:r>
              <a:rPr lang="en-US" sz="2200" dirty="0">
                <a:solidFill>
                  <a:srgbClr val="000000"/>
                </a:solidFill>
              </a:rPr>
              <a:t>, Stanford University</a:t>
            </a:r>
          </a:p>
          <a:p>
            <a:pPr marL="781050" lvl="1" indent="-342900" algn="l">
              <a:buFont typeface="Wingdings" pitchFamily="2" charset="2"/>
              <a:buChar char="v"/>
            </a:pPr>
            <a:r>
              <a:rPr lang="en-US" sz="220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2200" b="1" i="0" dirty="0">
                <a:solidFill>
                  <a:srgbClr val="000000"/>
                </a:solidFill>
                <a:effectLst/>
              </a:rPr>
              <a:t>Tomas </a:t>
            </a:r>
            <a:r>
              <a:rPr lang="en-US" sz="2200" b="1" i="0" dirty="0" err="1">
                <a:solidFill>
                  <a:srgbClr val="000000"/>
                </a:solidFill>
                <a:effectLst/>
              </a:rPr>
              <a:t>Mikolov</a:t>
            </a:r>
            <a:r>
              <a:rPr lang="en-US" sz="2200" i="0" dirty="0">
                <a:solidFill>
                  <a:srgbClr val="000000"/>
                </a:solidFill>
                <a:effectLst/>
              </a:rPr>
              <a:t>, CIIRC CTU</a:t>
            </a:r>
          </a:p>
          <a:p>
            <a:pPr marL="781050" lvl="1" indent="-342900" algn="l">
              <a:buFont typeface="Wingdings" pitchFamily="2" charset="2"/>
              <a:buChar char="v"/>
            </a:pPr>
            <a:r>
              <a:rPr lang="en-US" sz="220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2200" b="1" i="0" dirty="0">
                <a:solidFill>
                  <a:srgbClr val="222222"/>
                </a:solidFill>
                <a:effectLst/>
              </a:rPr>
              <a:t>Kenton Lee</a:t>
            </a:r>
            <a:r>
              <a:rPr lang="en-US" sz="2200" b="0" i="0" dirty="0">
                <a:solidFill>
                  <a:srgbClr val="222222"/>
                </a:solidFill>
                <a:effectLst/>
              </a:rPr>
              <a:t>, Google Research</a:t>
            </a:r>
            <a:endParaRPr lang="en-US" sz="2200" i="0" dirty="0">
              <a:solidFill>
                <a:srgbClr val="000000"/>
              </a:solidFill>
              <a:effectLst/>
            </a:endParaRPr>
          </a:p>
          <a:p>
            <a:pPr marL="781050" lvl="1" indent="-342900" algn="l">
              <a:buFont typeface="Wingdings" pitchFamily="2" charset="2"/>
              <a:buChar char="v"/>
            </a:pPr>
            <a:r>
              <a:rPr lang="en-US" sz="220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2200" b="1" i="0" dirty="0">
                <a:solidFill>
                  <a:srgbClr val="000000"/>
                </a:solidFill>
                <a:effectLst/>
              </a:rPr>
              <a:t>Dan </a:t>
            </a:r>
            <a:r>
              <a:rPr lang="en-US" sz="2200" b="1" i="0" dirty="0" err="1">
                <a:solidFill>
                  <a:srgbClr val="000000"/>
                </a:solidFill>
                <a:effectLst/>
              </a:rPr>
              <a:t>Jurafsky</a:t>
            </a:r>
            <a:r>
              <a:rPr lang="en-US" sz="2200" i="0" dirty="0">
                <a:solidFill>
                  <a:srgbClr val="000000"/>
                </a:solidFill>
                <a:effectLst/>
              </a:rPr>
              <a:t>, </a:t>
            </a:r>
            <a:r>
              <a:rPr lang="en-US" sz="2200" dirty="0">
                <a:solidFill>
                  <a:srgbClr val="000000"/>
                </a:solidFill>
              </a:rPr>
              <a:t>Stanford University</a:t>
            </a:r>
            <a:endParaRPr lang="en-US" sz="2200" i="0" dirty="0">
              <a:solidFill>
                <a:srgbClr val="000000"/>
              </a:solidFill>
              <a:effectLst/>
            </a:endParaRPr>
          </a:p>
          <a:p>
            <a:pPr marL="781050" lvl="1" indent="-342900" algn="l">
              <a:buFont typeface="Wingdings" pitchFamily="2" charset="2"/>
              <a:buChar char="v"/>
            </a:pPr>
            <a:r>
              <a:rPr lang="en-US" sz="2200" i="0" dirty="0">
                <a:solidFill>
                  <a:srgbClr val="000000"/>
                </a:solidFill>
                <a:effectLst/>
              </a:rPr>
              <a:t>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9</a:t>
            </a:fld>
            <a:endParaRPr lang="en-VN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1513498-0DDB-5AE4-E31B-4C9BE1478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972" y="2031133"/>
            <a:ext cx="5627914" cy="279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35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52500" lvl="1" indent="-514350" algn="just">
              <a:buFont typeface="Wingdings" pitchFamily="2" charset="2"/>
              <a:buChar char="v"/>
            </a:pPr>
            <a:r>
              <a:rPr lang="en-US" altLang="vi-VN" sz="2800" dirty="0" err="1"/>
              <a:t>Nếu</a:t>
            </a:r>
            <a:r>
              <a:rPr lang="en-US" altLang="vi-VN" sz="2800" dirty="0"/>
              <a:t> </a:t>
            </a:r>
            <a:r>
              <a:rPr lang="en-US" altLang="vi-VN" sz="2800" dirty="0" err="1"/>
              <a:t>sinh</a:t>
            </a:r>
            <a:r>
              <a:rPr lang="en-US" altLang="vi-VN" sz="2800" dirty="0"/>
              <a:t> </a:t>
            </a:r>
            <a:r>
              <a:rPr lang="en-US" altLang="vi-VN" sz="2800" dirty="0" err="1"/>
              <a:t>viên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có</a:t>
            </a:r>
            <a:r>
              <a:rPr lang="en-US" altLang="vi-VN" sz="2800" dirty="0"/>
              <a:t> </a:t>
            </a:r>
            <a:r>
              <a:rPr lang="en-US" altLang="vi-VN" sz="2800" dirty="0" err="1"/>
              <a:t>bất</a:t>
            </a:r>
            <a:r>
              <a:rPr lang="en-US" altLang="vi-VN" sz="2800" dirty="0"/>
              <a:t> </a:t>
            </a:r>
            <a:r>
              <a:rPr lang="en-US" altLang="vi-VN" sz="2800" dirty="0" err="1"/>
              <a:t>kỳ</a:t>
            </a:r>
            <a:r>
              <a:rPr lang="en-US" altLang="vi-VN" sz="2800" dirty="0"/>
              <a:t> </a:t>
            </a:r>
            <a:r>
              <a:rPr lang="en-US" altLang="vi-VN" sz="2800" dirty="0" err="1"/>
              <a:t>trong</a:t>
            </a:r>
            <a:r>
              <a:rPr lang="en-US" altLang="vi-VN" sz="2800" dirty="0"/>
              <a:t> </a:t>
            </a:r>
            <a:r>
              <a:rPr lang="en-US" altLang="vi-VN" sz="2800" dirty="0" err="1"/>
              <a:t>vấn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đề</a:t>
            </a:r>
            <a:r>
              <a:rPr lang="en-US" altLang="vi-VN" sz="2800" dirty="0"/>
              <a:t> </a:t>
            </a:r>
            <a:r>
              <a:rPr lang="en-US" altLang="vi-VN" sz="2800" dirty="0" err="1"/>
              <a:t>liên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quan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đến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học</a:t>
            </a:r>
            <a:r>
              <a:rPr lang="en-US" altLang="vi-VN" sz="2800" dirty="0"/>
              <a:t> </a:t>
            </a:r>
            <a:r>
              <a:rPr lang="en-US" altLang="vi-VN" sz="2800" dirty="0" err="1"/>
              <a:t>tập</a:t>
            </a:r>
            <a:r>
              <a:rPr lang="en-US" altLang="vi-VN" sz="2800" dirty="0"/>
              <a:t> </a:t>
            </a:r>
            <a:r>
              <a:rPr lang="en-US" altLang="vi-VN" sz="2800" dirty="0" err="1"/>
              <a:t>và</a:t>
            </a:r>
            <a:r>
              <a:rPr lang="en-US" altLang="vi-VN" sz="2800" dirty="0"/>
              <a:t> </a:t>
            </a:r>
            <a:r>
              <a:rPr lang="en-US" altLang="vi-VN" sz="2800" dirty="0" err="1"/>
              <a:t>thực</a:t>
            </a:r>
            <a:r>
              <a:rPr lang="en-US" altLang="vi-VN" sz="2800" dirty="0"/>
              <a:t> </a:t>
            </a:r>
            <a:r>
              <a:rPr lang="en-US" altLang="vi-VN" sz="2800" dirty="0" err="1"/>
              <a:t>hiện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đồ</a:t>
            </a:r>
            <a:r>
              <a:rPr lang="en-US" altLang="vi-VN" sz="2800" dirty="0"/>
              <a:t> </a:t>
            </a:r>
            <a:r>
              <a:rPr lang="en-US" altLang="vi-VN" sz="2800" dirty="0" err="1"/>
              <a:t>án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môn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học</a:t>
            </a:r>
            <a:r>
              <a:rPr lang="en-US" altLang="vi-VN" sz="2800" dirty="0"/>
              <a:t>, </a:t>
            </a:r>
            <a:r>
              <a:rPr lang="en-US" altLang="vi-VN" sz="2800" dirty="0" err="1"/>
              <a:t>vui</a:t>
            </a:r>
            <a:r>
              <a:rPr lang="en-US" altLang="vi-VN" sz="2800" dirty="0"/>
              <a:t> long </a:t>
            </a:r>
            <a:r>
              <a:rPr lang="en-US" altLang="vi-VN" sz="2800" dirty="0" err="1"/>
              <a:t>liên</a:t>
            </a:r>
            <a:r>
              <a:rPr lang="en-US" altLang="vi-VN" sz="2800" dirty="0"/>
              <a:t> </a:t>
            </a:r>
            <a:r>
              <a:rPr lang="en-US" altLang="vi-VN" sz="2800" dirty="0" err="1"/>
              <a:t>hệ</a:t>
            </a:r>
            <a:r>
              <a:rPr lang="en-US" altLang="vi-VN" sz="2800" dirty="0"/>
              <a:t> </a:t>
            </a:r>
            <a:r>
              <a:rPr lang="en-US" altLang="vi-VN" sz="2800" dirty="0" err="1"/>
              <a:t>tôi</a:t>
            </a:r>
            <a:r>
              <a:rPr lang="en-US" altLang="vi-VN" sz="2800" b="1" dirty="0"/>
              <a:t>:</a:t>
            </a:r>
          </a:p>
          <a:p>
            <a:pPr marL="1349375" lvl="2" indent="-514350">
              <a:buFont typeface="Wingdings" pitchFamily="2" charset="2"/>
              <a:buChar char="§"/>
            </a:pPr>
            <a:r>
              <a:rPr lang="en-US" altLang="vi-VN" sz="2500" b="1" dirty="0" err="1"/>
              <a:t>Phòng</a:t>
            </a:r>
            <a:r>
              <a:rPr lang="en-US" altLang="vi-VN" sz="2500" b="1" dirty="0"/>
              <a:t>: </a:t>
            </a:r>
            <a:r>
              <a:rPr lang="en-US" altLang="vi-VN" sz="2500" dirty="0"/>
              <a:t>10.2, </a:t>
            </a:r>
            <a:r>
              <a:rPr lang="en-US" altLang="vi-VN" sz="2500" dirty="0" err="1"/>
              <a:t>Tầng</a:t>
            </a:r>
            <a:r>
              <a:rPr lang="en-US" altLang="vi-VN" sz="2500" dirty="0"/>
              <a:t> 10, </a:t>
            </a:r>
            <a:r>
              <a:rPr lang="en-US" altLang="vi-VN" sz="2500" dirty="0" err="1"/>
              <a:t>Tòa</a:t>
            </a:r>
            <a:r>
              <a:rPr lang="en-US" altLang="vi-VN" sz="2500" dirty="0"/>
              <a:t> E, UIT</a:t>
            </a:r>
            <a:r>
              <a:rPr lang="en-US" altLang="vi-VN" sz="2500" b="1" dirty="0"/>
              <a:t>.</a:t>
            </a:r>
          </a:p>
          <a:p>
            <a:pPr marL="1349375" lvl="2" indent="-514350" algn="just">
              <a:buFont typeface="Wingdings" pitchFamily="2" charset="2"/>
              <a:buChar char="§"/>
            </a:pPr>
            <a:r>
              <a:rPr lang="vi-VN" altLang="en-US" sz="2500" b="1" dirty="0"/>
              <a:t>Thời gian: 9h30 – 10h30</a:t>
            </a:r>
            <a:r>
              <a:rPr lang="vi-VN" altLang="en-US" sz="2500" dirty="0"/>
              <a:t>, Thứ 3</a:t>
            </a:r>
            <a:r>
              <a:rPr lang="vi-VN" altLang="en-US" sz="2500" b="1" dirty="0"/>
              <a:t>.</a:t>
            </a:r>
          </a:p>
          <a:p>
            <a:pPr marL="1349375" lvl="2" indent="-514350" algn="just">
              <a:buFont typeface="Wingdings" pitchFamily="2" charset="2"/>
              <a:buChar char="§"/>
            </a:pPr>
            <a:r>
              <a:rPr lang="vi-VN" altLang="en-US" sz="2500" b="1" dirty="0"/>
              <a:t>Lưu ý: </a:t>
            </a:r>
            <a:r>
              <a:rPr lang="vi-VN" altLang="en-US" sz="2500" dirty="0"/>
              <a:t>Vui lòng thông báo trước khi gặp ít nhất một ngày!</a:t>
            </a:r>
            <a:endParaRPr lang="en-VN" sz="1800" kern="100" dirty="0">
              <a:solidFill>
                <a:srgbClr val="000000"/>
              </a:solidFill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10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9626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8150" lvl="1" indent="0">
              <a:buNone/>
            </a:pPr>
            <a:endParaRPr lang="en-US" altLang="vi-VN" sz="4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lvl="1" indent="0">
              <a:buNone/>
            </a:pPr>
            <a:endParaRPr lang="en-US" altLang="vi-VN" sz="4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lvl="1" indent="0" algn="ctr">
              <a:buNone/>
            </a:pPr>
            <a:r>
              <a:rPr lang="en-US" altLang="vi-VN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438150" lvl="1" indent="0" algn="just">
              <a:buNone/>
            </a:pPr>
            <a:endParaRPr lang="en-VN" sz="4000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11</a:t>
            </a:fld>
            <a:endParaRPr lang="en-V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B9D1382-8EBE-D4DF-F525-BFDC020E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60262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8150" lvl="1" indent="0">
              <a:buNone/>
            </a:pPr>
            <a:endParaRPr lang="en-US" altLang="vi-VN" sz="4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lvl="1" indent="0">
              <a:buNone/>
            </a:pPr>
            <a:endParaRPr lang="en-US" altLang="vi-VN" sz="4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lvl="1" indent="0" algn="ctr">
              <a:buNone/>
            </a:pPr>
            <a:r>
              <a:rPr lang="en-US" altLang="vi-VN" sz="40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altLang="vi-VN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40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endParaRPr lang="en-US" altLang="vi-VN" sz="4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lvl="1" indent="0" algn="just">
              <a:buNone/>
            </a:pPr>
            <a:endParaRPr lang="en-VN" sz="4000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12</a:t>
            </a:fld>
            <a:endParaRPr lang="en-V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B9D1382-8EBE-D4DF-F525-BFDC020E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596774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6250</TotalTime>
  <Words>783</Words>
  <Application>Microsoft Macintosh PowerPoint</Application>
  <PresentationFormat>Widescreen</PresentationFormat>
  <Paragraphs>94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PowerPoint Presentation</vt:lpstr>
      <vt:lpstr>Giới thiệu giảng viên</vt:lpstr>
      <vt:lpstr>Tại sao phải học và nghiên cứu NLP?</vt:lpstr>
      <vt:lpstr>Tại sao phải học và nghiên cứu NLP?</vt:lpstr>
      <vt:lpstr>Đánh giá môn học</vt:lpstr>
      <vt:lpstr>Sách tham khảo</vt:lpstr>
      <vt:lpstr>Hội nghị/tạp chí tốt trong lĩnh vực NLP</vt:lpstr>
      <vt:lpstr>Thư viện lớn nhất trong lĩnh vực NLP</vt:lpstr>
      <vt:lpstr>Một số nhà khoa học nổi tiếng trong lĩnh vực NLP</vt:lpstr>
      <vt:lpstr>Liên hệ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Trực tuyến G2.103</cp:lastModifiedBy>
  <cp:revision>155</cp:revision>
  <dcterms:created xsi:type="dcterms:W3CDTF">2023-03-03T01:55:04Z</dcterms:created>
  <dcterms:modified xsi:type="dcterms:W3CDTF">2026-04-15T11:08:37Z</dcterms:modified>
</cp:coreProperties>
</file>