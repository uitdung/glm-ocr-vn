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7FF"/>
    <a:srgbClr val="00C6FF"/>
    <a:srgbClr val="0072FF"/>
    <a:srgbClr val="376DB5"/>
    <a:srgbClr val="1CB5E0"/>
    <a:srgbClr val="000046"/>
    <a:srgbClr val="0A4671"/>
    <a:srgbClr val="114F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45"/>
    <p:restoredTop sz="94658"/>
  </p:normalViewPr>
  <p:slideViewPr>
    <p:cSldViewPr snapToGrid="0">
      <p:cViewPr varScale="1">
        <p:scale>
          <a:sx n="150" d="100"/>
          <a:sy n="150" d="100"/>
        </p:scale>
        <p:origin x="12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1B713-64C2-0949-8ADC-A04FFD1F6467}" type="datetimeFigureOut">
              <a:rPr lang="en-VN" smtClean="0"/>
              <a:t>07/09/2026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9F204-C7F4-F140-967F-D2FA889DA61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8996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319A-62FB-D9AB-91DD-E1478E7A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3680" y="6480629"/>
            <a:ext cx="4288103" cy="236770"/>
          </a:xfrm>
        </p:spPr>
        <p:txBody>
          <a:bodyPr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55FBA-E532-BB1F-9AD4-40205F001925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12">
            <a:extLst>
              <a:ext uri="{FF2B5EF4-FFF2-40B4-BE49-F238E27FC236}">
                <a16:creationId xmlns:a16="http://schemas.microsoft.com/office/drawing/2014/main" id="{BF14C68C-3577-C657-9E87-056612AF8E42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8E437-A7E4-9E4B-E374-2DBE3AB8DADD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A3AA59-2194-A31F-AA96-7C2918465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C352A7-0B18-D7E9-465D-F3B1274BB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A6BB9-0E9C-8F74-60DB-2DA463D47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A43496-358A-E9F0-8CFC-6A952BD4F3E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3DC9D-C96B-54B0-5413-508E29245B5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C856C5-8D5F-4945-AAA3-959D25DF2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7FF3-8245-17A0-DB3A-F0257D516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A1CF5-6C4E-34E9-65C0-4B4D7857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3366D05A-8A62-ADE1-F4B2-73F9CA085276}"/>
              </a:ext>
            </a:extLst>
          </p:cNvPr>
          <p:cNvSpPr/>
          <p:nvPr userDrawn="1"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7E6E6A9-35CE-D953-F678-DB52C8ED6EC1}"/>
              </a:ext>
            </a:extLst>
          </p:cNvPr>
          <p:cNvSpPr/>
          <p:nvPr userDrawn="1"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314FA3D3-A61E-753A-BCC3-7785EC3F2C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72C38A-5DF7-B873-F169-2EA590FF1122}"/>
              </a:ext>
            </a:extLst>
          </p:cNvPr>
          <p:cNvSpPr txBox="1"/>
          <p:nvPr userDrawn="1"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0A5A10-F9AF-733C-8C7D-94D87B311EF5}"/>
              </a:ext>
            </a:extLst>
          </p:cNvPr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DEB9-E93C-A8E4-074F-F195EB1D8ABF}"/>
              </a:ext>
            </a:extLst>
          </p:cNvPr>
          <p:cNvSpPr>
            <a:spLocks noGrp="1" noChangeAspect="1"/>
          </p:cNvSpPr>
          <p:nvPr>
            <p:ph type="sldNum" sz="quarter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VN" sz="7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D8B0B3AC-44A8-D142-AAF6-9A453466E1A4}" type="slidenum">
              <a:rPr lang="en-VN" smtClean="0"/>
              <a:pPr algn="ctr"/>
              <a:t>‹#›</a:t>
            </a:fld>
            <a:endParaRPr lang="en-VN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4981174-E1E5-D0CF-F74E-4BBA287A5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807" y="2208158"/>
            <a:ext cx="8490387" cy="696165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4400" b="1" kern="1200" dirty="0">
                <a:ln>
                  <a:noFill/>
                </a:ln>
                <a:gradFill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5400000" scaled="1"/>
                </a:gra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MÔN HỌC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1F814F0-EAC8-84E1-83C4-B5C359387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91" y="3039455"/>
            <a:ext cx="10438019" cy="459447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buNone/>
              <a:defRPr lang="en-VN" sz="2800" b="1" kern="1200" dirty="0">
                <a:gradFill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</a:gradFill>
                <a:effectLst>
                  <a:innerShdw blurRad="114300">
                    <a:schemeClr val="bg1"/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CHƯƠNG X: TÊN CHƯƠNG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B8543E7-0085-7DF3-5351-E097219BE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0970" y="4963048"/>
            <a:ext cx="2830058" cy="345005"/>
          </a:xfr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Trình bày: Tên Giảng viên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8BC0B81-9708-34C0-3CBB-EA50270B91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50807" y="3630811"/>
            <a:ext cx="8490387" cy="64421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spc="150" baseline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(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): 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  <a:endParaRPr lang="en-V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28119-6BAB-C115-873B-3333E0D709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767806" y="6476999"/>
            <a:ext cx="2495896" cy="236763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E4E74C37-9194-2F41-8AF3-9D2822A27DA3}" type="datetime4">
              <a:rPr lang="en-US" smtClean="0"/>
              <a:t>July 9,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3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July 9,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C6B2679F-C18F-09A3-96AB-5F2B6ACB82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04109" y="3019167"/>
            <a:ext cx="4583866" cy="1439258"/>
          </a:xfrm>
          <a:prstGeom prst="roundRect">
            <a:avLst>
              <a:gd name="adj" fmla="val 2631"/>
            </a:avLst>
          </a:prstGeom>
          <a:solidFill>
            <a:schemeClr val="bg1">
              <a:lumMod val="95000"/>
            </a:schemeClr>
          </a:solidFill>
          <a:ln w="19050" cap="rnd">
            <a:gradFill flip="none" rotWithShape="1">
              <a:gsLst>
                <a:gs pos="0">
                  <a:srgbClr val="00C6FF"/>
                </a:gs>
                <a:gs pos="99000">
                  <a:srgbClr val="00F7FF"/>
                </a:gs>
              </a:gsLst>
              <a:lin ang="2700000" scaled="1"/>
              <a:tileRect/>
            </a:gradFill>
          </a:ln>
        </p:spPr>
        <p:txBody>
          <a:bodyPr anchor="ctr">
            <a:normAutofit/>
          </a:bodyPr>
          <a:lstStyle>
            <a:lvl1pPr marL="1333500" indent="0">
              <a:buNone/>
              <a:tabLst/>
              <a:defRPr sz="2000" b="1" i="0">
                <a:gradFill flip="none" rotWithShape="1">
                  <a:gsLst>
                    <a:gs pos="100000">
                      <a:srgbClr val="0072FF"/>
                    </a:gs>
                    <a:gs pos="0">
                      <a:srgbClr val="00F7FF"/>
                    </a:gs>
                  </a:gsLst>
                  <a:lin ang="270000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Họ và tên</a:t>
            </a:r>
            <a:br>
              <a:rPr lang="en-VN" dirty="0"/>
            </a:br>
            <a:r>
              <a:rPr lang="en-VN" dirty="0"/>
              <a:t>Email</a:t>
            </a:r>
            <a:br>
              <a:rPr lang="en-VN" dirty="0"/>
            </a:br>
            <a:r>
              <a:rPr lang="en-VN" dirty="0"/>
              <a:t>Khoa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7094EB-B733-82D9-0C1A-47F50ED8DF48}"/>
              </a:ext>
            </a:extLst>
          </p:cNvPr>
          <p:cNvGrpSpPr/>
          <p:nvPr userDrawn="1"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2951CF-9EB0-47B4-697B-3EC7AC808E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49411" y="1986636"/>
              <a:ext cx="6360520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FAF29A-75A4-8EF7-11D9-AB3F5C16B25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11109" y="1480500"/>
              <a:ext cx="591405" cy="506136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D2D0A89-881E-F365-FCB8-0CCF88B4F0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02514" y="1480500"/>
              <a:ext cx="1378423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8ED5AC8-396E-82A3-EA13-53B0DC1B1744}"/>
                </a:ext>
              </a:extLst>
            </p:cNvPr>
            <p:cNvSpPr/>
            <p:nvPr userDrawn="1"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 flip="none" rotWithShape="1"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1"/>
              <a:tileRect/>
            </a:gradFill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D5DF290-BB09-CD5D-D16C-F337A2AE1710}"/>
              </a:ext>
            </a:extLst>
          </p:cNvPr>
          <p:cNvSpPr>
            <a:spLocks noChangeAspect="1"/>
          </p:cNvSpPr>
          <p:nvPr userDrawn="1"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  <a:ln>
            <a:gradFill>
              <a:gsLst>
                <a:gs pos="0">
                  <a:srgbClr val="00C6FF"/>
                </a:gs>
                <a:gs pos="100000">
                  <a:srgbClr val="0072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6519316-5BE7-6687-FE60-23F1FB913498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F7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VN" dirty="0"/>
              <a:t>Profile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8F295F7-595F-E903-E034-0D8FEC5E07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11214" y="2263753"/>
            <a:ext cx="3576761" cy="622002"/>
          </a:xfrm>
          <a:effectLst>
            <a:innerShdw blurRad="114300">
              <a:srgbClr val="00F7FF"/>
            </a:innerShdw>
          </a:effectLst>
        </p:spPr>
        <p:txBody>
          <a:bodyPr anchor="ctr">
            <a:noAutofit/>
          </a:bodyPr>
          <a:lstStyle>
            <a:lvl1pPr marL="0" indent="0" algn="r">
              <a:buNone/>
              <a:defRPr lang="en-VN" sz="36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GIẢNG VIÊN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595855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 userDrawn="1"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 userDrawn="1"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82718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27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 userDrawn="1"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endParaRPr lang="en-V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3899" y="1559014"/>
            <a:ext cx="8124204" cy="4153664"/>
          </a:xfrm>
        </p:spPr>
        <p:txBody>
          <a:bodyPr anchor="ctr">
            <a:normAutofit/>
          </a:bodyPr>
          <a:lstStyle>
            <a:lvl1pPr marL="514350" indent="-514350"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D51CB8D-0405-9D4D-88DC-1829A4D7BB93}" type="datetime4">
              <a:rPr lang="en-US" smtClean="0"/>
              <a:t>July 9, 2026</a:t>
            </a:fld>
            <a:endParaRPr lang="en-US" dirty="0"/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F56C1099-1EF4-24C1-B5E1-A484342C7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9729" y="734646"/>
            <a:ext cx="2714625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NỘI DUNG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5390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6FB8E2A-4378-29FE-41E3-42BAD72ADA6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470929" y="2095027"/>
            <a:ext cx="9941071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224296A-39BF-05BD-6DFB-8046C021F7C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70930" y="3169159"/>
            <a:ext cx="9941070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x.x. TÊN MỤC CON (NẾU CÓ)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E1131F0-02AD-0F75-0384-22C665D9450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2EB23E-8F15-CEEB-55D8-12309376C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96576" y="5231902"/>
            <a:ext cx="2521280" cy="1577819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buNone/>
              <a:defRPr lang="en-VN" sz="120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0x.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82EF5-131E-F7DD-C939-044C31C113C7}"/>
              </a:ext>
            </a:extLst>
          </p:cNvPr>
          <p:cNvCxnSpPr/>
          <p:nvPr userDrawn="1"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July 9,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AA7010-A78E-2DCB-8D89-28F704E05138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F7FF"/>
              </a:gs>
              <a:gs pos="100000">
                <a:srgbClr val="00F7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96A6D30-76D9-ADFA-439D-D8ACD753FA68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A54932-7153-1124-6FAB-6B0BCE7F15CF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11FFE3-7A74-DE46-A817-485EEBD35CE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189745-CA80-BAF4-D0A4-5251C5A38265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4A45EE-E6B0-E916-950B-83B5D9C719DA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05BCF47-41EA-DC9C-B39C-19996485644F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5591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5" y="1233824"/>
            <a:ext cx="10579654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July 9,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4650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233825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July 9,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228490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7D36B1-517A-D556-9184-ED466900A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2080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962615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July 9,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957280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F1C539-8AC9-C464-0C2F-4D72861584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4144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1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0714139-C59C-330B-707A-90AA2C2D1C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1006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2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AE4A723-09B9-08FA-D05B-D53CF4EB2C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4530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i d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July 9,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085934" y="202009"/>
            <a:ext cx="6267866" cy="5969620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08087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ình ả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July 9,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AE9790B-4A7F-B016-57E9-8F5F385CF8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60373" y="202009"/>
            <a:ext cx="6237261" cy="5976999"/>
          </a:xfrm>
          <a:prstGeom prst="roundRect">
            <a:avLst>
              <a:gd name="adj" fmla="val 574"/>
            </a:avLst>
          </a:prstGeo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VN" dirty="0"/>
              <a:t>Hình ảnh</a:t>
            </a:r>
          </a:p>
        </p:txBody>
      </p:sp>
    </p:spTree>
    <p:extLst>
      <p:ext uri="{BB962C8B-B14F-4D97-AF65-F5344CB8AC3E}">
        <p14:creationId xmlns:p14="http://schemas.microsoft.com/office/powerpoint/2010/main" val="134961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71" name="Footer Placeholder 4">
            <a:extLst>
              <a:ext uri="{FF2B5EF4-FFF2-40B4-BE49-F238E27FC236}">
                <a16:creationId xmlns:a16="http://schemas.microsoft.com/office/drawing/2014/main" id="{AAAD69AF-EC8B-72EE-4E78-98A3BACF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sp>
        <p:nvSpPr>
          <p:cNvPr id="72" name="Date Placeholder 3">
            <a:extLst>
              <a:ext uri="{FF2B5EF4-FFF2-40B4-BE49-F238E27FC236}">
                <a16:creationId xmlns:a16="http://schemas.microsoft.com/office/drawing/2014/main" id="{E08B9789-E935-79BF-7612-287E195CA82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July 9,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3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1CB305D-8829-8A5C-C77A-F06CC22D3171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B213357-208D-5A7C-6EC3-620968AB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56321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CB126-07C1-993D-D40F-CC92894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 TÊN MỤC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BD58-B33F-3C47-5551-9A2A2CE27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5A01D-3EDB-1F54-F4EE-AFD1EF996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CE531-2A7F-644E-A3F5-DC3B6E62F623}" type="datetime4">
              <a:rPr lang="en-US" smtClean="0"/>
              <a:t>July 9, 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D1C7E-53C3-CE2D-B996-7F9702138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76A-6303-F16B-A578-8E129753A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0436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4" r:id="rId3"/>
    <p:sldLayoutId id="2147483663" r:id="rId4"/>
    <p:sldLayoutId id="2147483650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6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effectLst>
            <a:innerShdw blurRad="114300">
              <a:schemeClr val="bg1"/>
            </a:inn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C305E"/>
                </a:solidFill>
                <a:latin typeface="Calibri Light"/>
              </a:rPr>
              <a:t>BÁO CÁO TIẾN ĐỘ GIỮA KỲ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06070"/>
                </a:solidFill>
                <a:latin typeface="Calibri Light"/>
              </a:rPr>
              <a:t>Khắc phục lỗi dấu thanh khi áp dụng VLM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C305E"/>
                </a:solidFill>
                <a:latin typeface="Calibri Light"/>
              </a:rPr>
              <a:t>tuandung-specominc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071FF"/>
                </a:solidFill>
                <a:latin typeface="Calibri Light"/>
              </a:rPr>
              <a:t>Fine-tune mô hình GLM-OCR
cho OCR Tiếng Việt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C305E"/>
                </a:solidFill>
                <a:latin typeface="Calibri Light"/>
              </a:rPr>
              <a:t>Bài toán: OCR tiếng Việt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C305E"/>
                </a:solidFill>
                <a:latin typeface="Calibri Light"/>
              </a:rPr>
              <a:t>Đặc thù dấu thanh tiếng Việt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2A2F4F"/>
                </a:solidFill>
                <a:latin typeface="Calibri Light"/>
              </a:rPr>
              <a:t>▸ 6 dấu thanh + 7 nhóm nguyên âm kép (ă â ê ô ơ ư đ)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2A2F4F"/>
                </a:solidFill>
                <a:latin typeface="Calibri Light"/>
              </a:rPr>
              <a:t>▸ Một ký tự = tổ hợp 3 lớp: chữ cái + dấu mũ + dấu thanh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2A2F4F"/>
                </a:solidFill>
                <a:latin typeface="Calibri Light"/>
              </a:rPr>
              <a:t>▸ Dấu chỉ vài pixel → mờ/nhiễu dễ mất dấu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800" b="0">
                <a:solidFill>
                  <a:srgbClr val="2A2F4F"/>
                </a:solidFill>
                <a:latin typeface="Calibri Light"/>
              </a:rPr>
              <a:t>▸ 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C305E"/>
                </a:solidFill>
                <a:latin typeface="Calibri Light"/>
              </a:rPr>
              <a:t>Vấn đề với mô hình OCR gốc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2A2F4F"/>
                </a:solidFill>
                <a:latin typeface="Calibri Light"/>
              </a:rPr>
              <a:t>▸ GLM-OCR pre-train cho tiếng Anh/Trung → yếu dấu Việt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C7171"/>
                </a:solidFill>
                <a:latin typeface="Calibri Light"/>
              </a:rPr>
              <a:t>▸ Mất dấu = thay đổi nghĩa ('than' ≠ 'thần' ≠ 'thăn')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C7171"/>
                </a:solidFill>
                <a:latin typeface="Calibri Light"/>
              </a:rPr>
              <a:t>▸ False Positive: model tự thêm dấu sai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C305E"/>
                </a:solidFill>
                <a:latin typeface="Calibri Light"/>
              </a:rPr>
              <a:t>Các mô hình</a:t>
            </a:r>
          </a:p>
          <a:p>
            <a:r>
              <a:rPr b="1">
                <a:solidFill>
                  <a:srgbClr val="1C305E"/>
                </a:solidFill>
                <a:latin typeface="Calibri Light"/>
              </a:rPr>
              <a:t>OCR &amp; VLM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C305E"/>
                </a:solidFill>
                <a:latin typeface="Calibri Light"/>
              </a:rPr>
              <a:t>Tiến hóa 2017→2026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2A2F4F"/>
                </a:solidFill>
                <a:latin typeface="Calibri Light"/>
              </a:rPr>
              <a:t>▸ CRNN→TrOCR→Donut→GLM-OCR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C305E"/>
                </a:solidFill>
                <a:latin typeface="Calibri Light"/>
              </a:rPr>
              <a:t>Ba hướng tiếp cận: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071FF"/>
                </a:solidFill>
                <a:latin typeface="Calibri Light"/>
              </a:rPr>
              <a:t>▸ Pipeline (PP-OCRv6)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41855B"/>
                </a:solidFill>
                <a:latin typeface="Calibri Light"/>
              </a:rPr>
              <a:t>▸ VLM end-to-end (GLM-OCR) ★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AAB78"/>
                </a:solidFill>
                <a:latin typeface="Calibri Light"/>
              </a:rPr>
              <a:t>Chọn GLM-OCR: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2A2F4F"/>
                </a:solidFill>
                <a:latin typeface="Calibri Light"/>
              </a:rPr>
              <a:t>▸ Tận dụng LLM, linh hoạt, phù hợp VN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vlm_ocr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057" y="202009"/>
            <a:ext cx="5969620" cy="5969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C305E"/>
                </a:solidFill>
                <a:latin typeface="Calibri Light"/>
              </a:rPr>
              <a:t>Kiến trúc</a:t>
            </a:r>
          </a:p>
          <a:p>
            <a:r>
              <a:rPr b="1">
                <a:solidFill>
                  <a:srgbClr val="1C305E"/>
                </a:solidFill>
                <a:latin typeface="Calibri Light"/>
              </a:rPr>
              <a:t>GLM-OCR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C305E"/>
                </a:solidFill>
                <a:latin typeface="Calibri Light"/>
              </a:rPr>
              <a:t>VLM end-to-end ~1.1 tỷ 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071FF"/>
                </a:solidFill>
                <a:latin typeface="Calibri Light"/>
              </a:rPr>
              <a:t>▸ ① ViT CogViT — 24L, h=1024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A2F4F"/>
                </a:solidFill>
                <a:latin typeface="Calibri Light"/>
              </a:rPr>
              <a:t>   • image 336 · patch 14 · merge 2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C305E"/>
                </a:solidFill>
                <a:latin typeface="Calibri Light"/>
              </a:rPr>
              <a:t>▸ ② Projector — bridge ViT↔LLM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A2F4F"/>
                </a:solidFill>
                <a:latin typeface="Calibri Light"/>
              </a:rPr>
              <a:t>   • d_vision → d_llm = 1536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41855B"/>
                </a:solidFill>
                <a:latin typeface="Calibri Light"/>
              </a:rPr>
              <a:t>▸ ③ LLM Decoder GLM-0.5B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A2F4F"/>
                </a:solidFill>
                <a:latin typeface="Calibri Light"/>
              </a:rPr>
              <a:t>   • 16L · GQA · vocab 59392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A2F4F"/>
                </a:solidFill>
                <a:latin typeface="Calibri Light"/>
              </a:rPr>
              <a:t>   • MTP loss — học phụ thuộc dài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glm_oc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057" y="202009"/>
            <a:ext cx="5969620" cy="5969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C305E"/>
                </a:solidFill>
                <a:latin typeface="Calibri Light"/>
              </a:rPr>
              <a:t>① Vision Encoder — CogViT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A2F4F"/>
                </a:solidFill>
                <a:latin typeface="Calibri Light"/>
              </a:rPr>
              <a:t>▸ 24 self-attention, hidden=1024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A2F4F"/>
                </a:solidFill>
                <a:latin typeface="Calibri Light"/>
              </a:rPr>
              <a:t>▸ image=336, patch=14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A2F4F"/>
                </a:solidFill>
                <a:latin typeface="Calibri Light"/>
              </a:rPr>
              <a:t>▸ Nén → ~999 token / ảnh 768×1024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A2F4F"/>
                </a:solidFill>
                <a:latin typeface="Calibri Light"/>
              </a:rPr>
              <a:t>▸ out_hidden=1536 (khớp LLM)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2A2F4F"/>
                </a:solidFill>
                <a:latin typeface="Calibri Light"/>
              </a:rPr>
              <a:t>▸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AAB78"/>
                </a:solidFill>
                <a:latin typeface="Calibri Light"/>
              </a:rPr>
              <a:t>⚠ Vì sao dấu thanh khó?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7171"/>
                </a:solidFill>
                <a:latin typeface="Calibri Light"/>
              </a:rPr>
              <a:t>▸ Dấu mũ/râu chỉ vài pixel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7171"/>
                </a:solidFill>
                <a:latin typeface="Calibri Light"/>
              </a:rPr>
              <a:t>▸ → dễ bị nén mất khi 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C305E"/>
                </a:solidFill>
                <a:latin typeface="Calibri Light"/>
              </a:rPr>
              <a:t>② Projector — Bridge thị giác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A2F4F"/>
                </a:solidFill>
                <a:latin typeface="Calibri Light"/>
              </a:rPr>
              <a:t>▸ Chuyển đặc trưng ViT → embedding LLM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A2F4F"/>
                </a:solidFill>
                <a:latin typeface="Calibri Light"/>
              </a:rPr>
              <a:t>▸ Vị trí xây 'từ điển thị giác' VN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2A2F4F"/>
                </a:solidFill>
                <a:latin typeface="Calibri Light"/>
              </a:rPr>
              <a:t>▸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71FF"/>
                </a:solidFill>
                <a:latin typeface="Calibri Light"/>
              </a:rPr>
              <a:t>2 chiến lược finetune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A2F4F"/>
                </a:solidFill>
                <a:latin typeface="Calibri Light"/>
              </a:rPr>
              <a:t>   • Stage 1: mở projector (học dấu)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A2F4F"/>
                </a:solidFill>
                <a:latin typeface="Calibri Light"/>
              </a:rPr>
              <a:t>   • Stage 2: đóng băng (ổn định)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2A2F4F"/>
                </a:solidFill>
                <a:latin typeface="Calibri Light"/>
              </a:rPr>
              <a:t>▸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AAB78"/>
                </a:solidFill>
                <a:latin typeface="Calibri Light"/>
              </a:rPr>
              <a:t>Cấu hình v3 đang chạy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7171"/>
                </a:solidFill>
                <a:latin typeface="Calibri Light"/>
              </a:rPr>
              <a:t>   • FREEZE cả ViT + Projector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1855B"/>
                </a:solidFill>
                <a:latin typeface="Calibri Light"/>
              </a:rPr>
              <a:t>   • → chỉ train LLM bằng LoRA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C305E"/>
                </a:solidFill>
                <a:latin typeface="Calibri Light"/>
              </a:rPr>
              <a:t>Kiến trúc (2/2) — ViT &amp; Projector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C305E"/>
                </a:solidFill>
                <a:latin typeface="Calibri Light"/>
              </a:rPr>
              <a:t>LLM Decoder</a:t>
            </a:r>
          </a:p>
          <a:p>
            <a:r>
              <a:rPr b="1">
                <a:solidFill>
                  <a:srgbClr val="1C305E"/>
                </a:solidFill>
                <a:latin typeface="Calibri Light"/>
              </a:rPr>
              <a:t>&amp; LoRA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C305E"/>
                </a:solidFill>
                <a:latin typeface="Calibri Light"/>
              </a:rPr>
              <a:t>③ LLM — GLM-0.5B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2A2F4F"/>
                </a:solidFill>
                <a:latin typeface="Calibri Light"/>
              </a:rPr>
              <a:t>▸ 16L · GQA 16Q/8KV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2A2F4F"/>
                </a:solidFill>
                <a:latin typeface="Calibri Light"/>
              </a:rPr>
              <a:t>▸ vocab 59392 · mRoPE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2A2F4F"/>
                </a:solidFill>
                <a:latin typeface="Calibri Light"/>
              </a:rPr>
              <a:t>▸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AAB78"/>
                </a:solidFill>
                <a:latin typeface="Calibri Light"/>
              </a:rPr>
              <a:t>Quyết định finetune v3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2A2F4F"/>
                </a:solidFill>
                <a:latin typeface="Calibri Light"/>
              </a:rPr>
              <a:t>▸ ViT — FROZEN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2A2F4F"/>
                </a:solidFill>
                <a:latin typeface="Calibri Light"/>
              </a:rPr>
              <a:t>▸ Projector — FROZEN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41855B"/>
                </a:solidFill>
                <a:latin typeface="Calibri Light"/>
              </a:rPr>
              <a:t>▸ LLM + LoRA — TRAINED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06070"/>
                </a:solidFill>
                <a:latin typeface="Calibri Light"/>
              </a:rPr>
              <a:t>   • rank 8 · alpha 32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lora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057" y="202009"/>
            <a:ext cx="5969620" cy="59696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C305E"/>
                </a:solidFill>
                <a:latin typeface="Calibri Light"/>
              </a:rPr>
              <a:t>Tiến trình</a:t>
            </a:r>
          </a:p>
          <a:p>
            <a:r>
              <a:rPr b="1">
                <a:solidFill>
                  <a:srgbClr val="1C305E"/>
                </a:solidFill>
                <a:latin typeface="Calibri Light"/>
              </a:rPr>
              <a:t>train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C305E"/>
                </a:solidFill>
                <a:latin typeface="Calibri Light"/>
              </a:rPr>
              <a:t>Pipeline (notebook)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2F4F"/>
                </a:solidFill>
                <a:latin typeface="Calibri Light"/>
              </a:rPr>
              <a:t>▸ GPU → data → cài LF →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2F4F"/>
                </a:solidFill>
                <a:latin typeface="Calibri Light"/>
              </a:rPr>
              <a:t>▸ train → eval → dashboard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2A2F4F"/>
                </a:solidFill>
                <a:latin typeface="Calibri Light"/>
              </a:rPr>
              <a:t>▸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AAB78"/>
                </a:solidFill>
                <a:latin typeface="Calibri Light"/>
              </a:rPr>
              <a:t>Cấu hình LoRA v3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2F4F"/>
                </a:solidFill>
                <a:latin typeface="Calibri Light"/>
              </a:rPr>
              <a:t>▸ rank 8, α32, target='all'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7171"/>
                </a:solidFill>
                <a:latin typeface="Calibri Light"/>
              </a:rPr>
              <a:t>▸ freeze ViT + projector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2F4F"/>
                </a:solidFill>
                <a:latin typeface="Calibri Light"/>
              </a:rPr>
              <a:t>▸ lr 1e-5 · cutoff 1024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2F4F"/>
                </a:solidFill>
                <a:latin typeface="Calibri Light"/>
              </a:rPr>
              <a:t>▸ Eff.BS 16 · grad_ckpt=true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2A2F4F"/>
                </a:solidFill>
                <a:latin typeface="Calibri Light"/>
              </a:rPr>
              <a:t>▸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41855B"/>
                </a:solidFill>
                <a:latin typeface="Calibri Light"/>
              </a:rPr>
              <a:t>Đánh giá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71FF"/>
                </a:solidFill>
                <a:latin typeface="Calibri Light"/>
              </a:rPr>
              <a:t>▸ CER · WER · EM% · DA%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AAB78"/>
                </a:solidFill>
                <a:latin typeface="Calibri Light"/>
              </a:rPr>
              <a:t>▸ ⏳ Đang thu checkpoint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finetun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057" y="202009"/>
            <a:ext cx="5969620" cy="59696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41855B"/>
                </a:solidFill>
                <a:latin typeface="Calibri Light"/>
              </a:rPr>
              <a:t>✓ ĐÃ HOÀN THÀNH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A2F4F"/>
                </a:solidFill>
                <a:latin typeface="Calibri Light"/>
              </a:rPr>
              <a:t>▸ Khảo sát + sơ đồ kiến trúc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A2F4F"/>
                </a:solidFill>
                <a:latin typeface="Calibri Light"/>
              </a:rPr>
              <a:t>▸ Pipeline data ShareGPT 3 nguồn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A2F4F"/>
                </a:solidFill>
                <a:latin typeface="Calibri Light"/>
              </a:rPr>
              <a:t>▸ YAML v3 + eval + dashboard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2A2F4F"/>
                </a:solidFill>
                <a:latin typeface="Calibri Light"/>
              </a:rPr>
              <a:t>▸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AAB78"/>
                </a:solidFill>
                <a:latin typeface="Calibri Light"/>
              </a:rPr>
              <a:t>⏳ ĐANG LÀM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A2F4F"/>
                </a:solidFill>
                <a:latin typeface="Calibri Light"/>
              </a:rPr>
              <a:t>▸ Train 3 epoch × 3000 mẫu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A2F4F"/>
                </a:solidFill>
                <a:latin typeface="Calibri Light"/>
              </a:rPr>
              <a:t>▸ Thu checkpoint + so base vs FT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2A2F4F"/>
                </a:solidFill>
                <a:latin typeface="Calibri Light"/>
              </a:rPr>
              <a:t>▸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071FF"/>
                </a:solidFill>
                <a:latin typeface="Calibri Light"/>
              </a:rPr>
              <a:t>🎯 KẾ HOẠCH (+Tuần)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2F4F"/>
                </a:solidFill>
                <a:latin typeface="Calibri Light"/>
              </a:rPr>
              <a:t>▸ 1-2: hoàn train · 3-4: mở projector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2F4F"/>
                </a:solidFill>
                <a:latin typeface="Calibri Light"/>
              </a:rPr>
              <a:t>▸ 5: dp chéo · 6: deploy +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C7171"/>
                </a:solidFill>
                <a:latin typeface="Calibri Light"/>
              </a:rPr>
              <a:t>Rủi ro &amp; xử lý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2F4F"/>
                </a:solidFill>
                <a:latin typeface="Calibri Light"/>
              </a:rPr>
              <a:t>▸ OOM T4 → bật grad_ckpt + fp16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2F4F"/>
                </a:solidFill>
                <a:latin typeface="Calibri Light"/>
              </a:rPr>
              <a:t>▸ Freeze ViT hạn chế dấu → mở S2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2F4F"/>
                </a:solidFill>
                <a:latin typeface="Calibri Light"/>
              </a:rPr>
              <a:t>▸ Overfit → theo dõi loss + CER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2A2F4F"/>
                </a:solidFill>
                <a:latin typeface="Calibri Light"/>
              </a:rPr>
              <a:t>▸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C305E"/>
                </a:solidFill>
                <a:latin typeface="Calibri Light"/>
              </a:rPr>
              <a:t>KPI cuối kỳ mong đợi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1855B"/>
                </a:solidFill>
                <a:latin typeface="Calibri Light"/>
              </a:rPr>
              <a:t>▸ DA% ≥ 95% trên test set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1855B"/>
                </a:solidFill>
                <a:latin typeface="Calibri Light"/>
              </a:rPr>
              <a:t>▸ CER cải thiện rõ vs base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1855B"/>
                </a:solidFill>
                <a:latin typeface="Calibri Light"/>
              </a:rPr>
              <a:t>▸ Demo ảnh mới ngoài dataset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2A2F4F"/>
                </a:solidFill>
                <a:latin typeface="Calibri Light"/>
              </a:rPr>
              <a:t>▸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AAB78"/>
                </a:solidFill>
                <a:latin typeface="Calibri Light"/>
              </a:rPr>
              <a:t>📊 Tiến độ: ~55% — đúng kế hoạch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C305E"/>
                </a:solidFill>
                <a:latin typeface="Calibri Light"/>
              </a:rPr>
              <a:t>Tổng kết &amp; kế hoạch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spcAft>
                <a:spcPts val="600"/>
              </a:spcAft>
            </a:pPr>
            <a:r>
              <a:rPr sz="3600" b="1" dirty="0" err="1">
                <a:solidFill>
                  <a:srgbClr val="1C305E"/>
                </a:solidFill>
                <a:latin typeface="Calibri Light"/>
              </a:rPr>
              <a:t>Cảm</a:t>
            </a:r>
            <a:r>
              <a:rPr sz="3600" b="1" dirty="0">
                <a:solidFill>
                  <a:srgbClr val="1C305E"/>
                </a:solidFill>
                <a:latin typeface="Calibri Light"/>
              </a:rPr>
              <a:t> </a:t>
            </a:r>
            <a:r>
              <a:rPr sz="3600" b="1" dirty="0" err="1">
                <a:solidFill>
                  <a:srgbClr val="1C305E"/>
                </a:solidFill>
                <a:latin typeface="Calibri Light"/>
              </a:rPr>
              <a:t>ơn</a:t>
            </a:r>
            <a:r>
              <a:rPr sz="3600" b="1" dirty="0">
                <a:solidFill>
                  <a:srgbClr val="1C305E"/>
                </a:solidFill>
                <a:latin typeface="Calibri Light"/>
              </a:rPr>
              <a:t> </a:t>
            </a:r>
            <a:r>
              <a:rPr sz="3600" b="1" dirty="0" err="1">
                <a:solidFill>
                  <a:srgbClr val="1C305E"/>
                </a:solidFill>
                <a:latin typeface="Calibri Light"/>
              </a:rPr>
              <a:t>thầy</a:t>
            </a:r>
            <a:r>
              <a:rPr sz="3600" b="1" dirty="0">
                <a:solidFill>
                  <a:srgbClr val="1C305E"/>
                </a:solidFill>
                <a:latin typeface="Calibri Light"/>
              </a:rPr>
              <a:t>/</a:t>
            </a:r>
            <a:r>
              <a:rPr sz="3600" b="1" dirty="0" err="1">
                <a:solidFill>
                  <a:srgbClr val="1C305E"/>
                </a:solidFill>
                <a:latin typeface="Calibri Light"/>
              </a:rPr>
              <a:t>cô</a:t>
            </a:r>
            <a:r>
              <a:rPr sz="3600" b="1" dirty="0">
                <a:solidFill>
                  <a:srgbClr val="1C305E"/>
                </a:solidFill>
                <a:latin typeface="Calibri Light"/>
              </a:rPr>
              <a:t> </a:t>
            </a:r>
            <a:r>
              <a:rPr sz="3600" b="1" dirty="0" err="1">
                <a:solidFill>
                  <a:srgbClr val="1C305E"/>
                </a:solidFill>
                <a:latin typeface="Calibri Light"/>
              </a:rPr>
              <a:t>đã</a:t>
            </a:r>
            <a:r>
              <a:rPr sz="3600" b="1" dirty="0">
                <a:solidFill>
                  <a:srgbClr val="1C305E"/>
                </a:solidFill>
                <a:latin typeface="Calibri Light"/>
              </a:rPr>
              <a:t> </a:t>
            </a:r>
            <a:r>
              <a:rPr sz="3600" b="1" dirty="0" err="1">
                <a:solidFill>
                  <a:srgbClr val="1C305E"/>
                </a:solidFill>
                <a:latin typeface="Calibri Light"/>
              </a:rPr>
              <a:t>lắng</a:t>
            </a:r>
            <a:r>
              <a:rPr sz="3600" b="1" dirty="0">
                <a:solidFill>
                  <a:srgbClr val="1C305E"/>
                </a:solidFill>
                <a:latin typeface="Calibri Light"/>
              </a:rPr>
              <a:t> </a:t>
            </a:r>
            <a:r>
              <a:rPr sz="3600" b="1" dirty="0" err="1">
                <a:solidFill>
                  <a:srgbClr val="1C305E"/>
                </a:solidFill>
                <a:latin typeface="Calibri Light"/>
              </a:rPr>
              <a:t>nghe</a:t>
            </a:r>
            <a:r>
              <a:rPr sz="3600" b="1" dirty="0">
                <a:solidFill>
                  <a:srgbClr val="1C305E"/>
                </a:solidFill>
                <a:latin typeface="Calibri Light"/>
              </a:rPr>
              <a:t>!</a:t>
            </a:r>
          </a:p>
          <a:p>
            <a:pPr algn="ctr">
              <a:spcAft>
                <a:spcPts val="600"/>
              </a:spcAft>
            </a:pPr>
            <a:endParaRPr sz="3600" b="1" dirty="0">
              <a:solidFill>
                <a:srgbClr val="1C305E"/>
              </a:solidFill>
              <a:latin typeface="Calibri Light"/>
            </a:endParaRPr>
          </a:p>
          <a:p>
            <a:pPr algn="ctr">
              <a:spcAft>
                <a:spcPts val="600"/>
              </a:spcAft>
            </a:pPr>
            <a:r>
              <a:rPr sz="2800" b="1" dirty="0">
                <a:solidFill>
                  <a:srgbClr val="0071FF"/>
                </a:solidFill>
                <a:latin typeface="Calibri Light"/>
              </a:rPr>
              <a:t>Q &amp; A</a:t>
            </a:r>
          </a:p>
          <a:p>
            <a:pPr algn="ctr">
              <a:spcAft>
                <a:spcPts val="600"/>
              </a:spcAft>
            </a:pPr>
            <a:r>
              <a:rPr sz="1600" b="0" dirty="0" err="1">
                <a:solidFill>
                  <a:srgbClr val="606070"/>
                </a:solidFill>
                <a:latin typeface="Calibri Light"/>
              </a:rPr>
              <a:t>Sẵn</a:t>
            </a:r>
            <a:r>
              <a:rPr sz="1600" b="0" dirty="0">
                <a:solidFill>
                  <a:srgbClr val="606070"/>
                </a:solidFill>
                <a:latin typeface="Calibri Light"/>
              </a:rPr>
              <a:t> </a:t>
            </a:r>
            <a:r>
              <a:rPr sz="1600" b="0" dirty="0" err="1">
                <a:solidFill>
                  <a:srgbClr val="606070"/>
                </a:solidFill>
                <a:latin typeface="Calibri Light"/>
              </a:rPr>
              <a:t>sàng</a:t>
            </a:r>
            <a:r>
              <a:rPr sz="1600" b="0" dirty="0">
                <a:solidFill>
                  <a:srgbClr val="606070"/>
                </a:solidFill>
                <a:latin typeface="Calibri Light"/>
              </a:rPr>
              <a:t> </a:t>
            </a:r>
            <a:r>
              <a:rPr sz="1600" b="0" dirty="0" err="1">
                <a:solidFill>
                  <a:srgbClr val="606070"/>
                </a:solidFill>
                <a:latin typeface="Calibri Light"/>
              </a:rPr>
              <a:t>trả</a:t>
            </a:r>
            <a:r>
              <a:rPr sz="1600" b="0" dirty="0">
                <a:solidFill>
                  <a:srgbClr val="606070"/>
                </a:solidFill>
                <a:latin typeface="Calibri Light"/>
              </a:rPr>
              <a:t> </a:t>
            </a:r>
            <a:r>
              <a:rPr sz="1600" b="0" dirty="0" err="1">
                <a:solidFill>
                  <a:srgbClr val="606070"/>
                </a:solidFill>
                <a:latin typeface="Calibri Light"/>
              </a:rPr>
              <a:t>lời</a:t>
            </a:r>
            <a:r>
              <a:rPr sz="1600" b="0" dirty="0">
                <a:solidFill>
                  <a:srgbClr val="606070"/>
                </a:solidFill>
                <a:latin typeface="Calibri Light"/>
              </a:rPr>
              <a:t> </a:t>
            </a:r>
            <a:r>
              <a:rPr sz="1600" b="0" dirty="0" err="1">
                <a:solidFill>
                  <a:srgbClr val="606070"/>
                </a:solidFill>
                <a:latin typeface="Calibri Light"/>
              </a:rPr>
              <a:t>câu</a:t>
            </a:r>
            <a:r>
              <a:rPr sz="1600" b="0" dirty="0">
                <a:solidFill>
                  <a:srgbClr val="606070"/>
                </a:solidFill>
                <a:latin typeface="Calibri Light"/>
              </a:rPr>
              <a:t> </a:t>
            </a:r>
            <a:r>
              <a:rPr sz="1600" b="0" dirty="0" err="1">
                <a:solidFill>
                  <a:srgbClr val="606070"/>
                </a:solidFill>
                <a:latin typeface="Calibri Light"/>
              </a:rPr>
              <a:t>hỏi</a:t>
            </a:r>
            <a:endParaRPr sz="1600" b="0" dirty="0">
              <a:solidFill>
                <a:srgbClr val="606070"/>
              </a:solidFill>
              <a:latin typeface="Calibri Light"/>
            </a:endParaRPr>
          </a:p>
          <a:p>
            <a:pPr algn="ctr">
              <a:spcAft>
                <a:spcPts val="600"/>
              </a:spcAft>
            </a:pPr>
            <a:endParaRPr sz="1600" b="0" dirty="0">
              <a:solidFill>
                <a:srgbClr val="606070"/>
              </a:solidFill>
              <a:latin typeface="Calibri Light"/>
            </a:endParaRPr>
          </a:p>
          <a:p>
            <a:pPr algn="ctr">
              <a:spcAft>
                <a:spcPts val="600"/>
              </a:spcAft>
            </a:pPr>
            <a:r>
              <a:rPr sz="1600" b="1" dirty="0" err="1">
                <a:solidFill>
                  <a:srgbClr val="1C305E"/>
                </a:solidFill>
                <a:latin typeface="Calibri Light"/>
              </a:rPr>
              <a:t>Dự</a:t>
            </a:r>
            <a:r>
              <a:rPr sz="1600" b="1" dirty="0">
                <a:solidFill>
                  <a:srgbClr val="1C305E"/>
                </a:solidFill>
                <a:latin typeface="Calibri Light"/>
              </a:rPr>
              <a:t> </a:t>
            </a:r>
            <a:r>
              <a:rPr sz="1600" b="1" dirty="0" err="1">
                <a:solidFill>
                  <a:srgbClr val="1C305E"/>
                </a:solidFill>
                <a:latin typeface="Calibri Light"/>
              </a:rPr>
              <a:t>án</a:t>
            </a:r>
            <a:r>
              <a:rPr sz="1600" b="1" dirty="0">
                <a:solidFill>
                  <a:srgbClr val="1C305E"/>
                </a:solidFill>
                <a:latin typeface="Calibri Light"/>
              </a:rPr>
              <a:t>: </a:t>
            </a:r>
            <a:r>
              <a:rPr sz="1600" b="1" dirty="0" err="1">
                <a:solidFill>
                  <a:srgbClr val="1C305E"/>
                </a:solidFill>
                <a:latin typeface="Calibri Light"/>
              </a:rPr>
              <a:t>uitdung</a:t>
            </a:r>
            <a:r>
              <a:rPr sz="1600" b="1" dirty="0">
                <a:solidFill>
                  <a:srgbClr val="1C305E"/>
                </a:solidFill>
                <a:latin typeface="Calibri Light"/>
              </a:rPr>
              <a:t>/GLM-OCR-</a:t>
            </a:r>
            <a:r>
              <a:rPr sz="1600" b="1" dirty="0" err="1">
                <a:solidFill>
                  <a:srgbClr val="1C305E"/>
                </a:solidFill>
                <a:latin typeface="Calibri Light"/>
              </a:rPr>
              <a:t>vn</a:t>
            </a:r>
            <a:endParaRPr sz="1600" b="1" dirty="0">
              <a:solidFill>
                <a:srgbClr val="1C305E"/>
              </a:solidFill>
              <a:latin typeface="Calibri Light"/>
            </a:endParaRPr>
          </a:p>
          <a:p>
            <a:pPr algn="ctr">
              <a:spcAft>
                <a:spcPts val="600"/>
              </a:spcAft>
            </a:pPr>
            <a:r>
              <a:rPr sz="1400" b="0" dirty="0">
                <a:solidFill>
                  <a:srgbClr val="606070"/>
                </a:solidFill>
                <a:latin typeface="Calibri Light"/>
              </a:rPr>
              <a:t>Liên </a:t>
            </a:r>
            <a:r>
              <a:rPr sz="1400" b="0" dirty="0" err="1">
                <a:solidFill>
                  <a:srgbClr val="606070"/>
                </a:solidFill>
                <a:latin typeface="Calibri Light"/>
              </a:rPr>
              <a:t>hệ</a:t>
            </a:r>
            <a:r>
              <a:rPr sz="1400" b="0" dirty="0">
                <a:solidFill>
                  <a:srgbClr val="606070"/>
                </a:solidFill>
                <a:latin typeface="Calibri Light"/>
              </a:rPr>
              <a:t>: </a:t>
            </a:r>
            <a:r>
              <a:rPr sz="1400" b="0" dirty="0" err="1">
                <a:solidFill>
                  <a:srgbClr val="606070"/>
                </a:solidFill>
                <a:latin typeface="Calibri Light"/>
              </a:rPr>
              <a:t>tuandung-specominc</a:t>
            </a:r>
            <a:endParaRPr sz="1400" b="0" dirty="0">
              <a:solidFill>
                <a:srgbClr val="606070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C6FF"/>
            </a:gs>
            <a:gs pos="100000">
              <a:srgbClr val="0072FF"/>
            </a:gs>
          </a:gsLst>
          <a:lin ang="5400000" scaled="1"/>
        </a:gradFill>
        <a:ln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</a:ln>
      </a:spPr>
      <a:bodyPr rtlCol="0" anchor="ctr"/>
      <a:lstStyle>
        <a:defPPr algn="ctr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just">
          <a:lnSpc>
            <a:spcPct val="120000"/>
          </a:lnSpc>
          <a:spcBef>
            <a:spcPts val="200"/>
          </a:spcBef>
          <a:spcAft>
            <a:spcPts val="200"/>
          </a:spcAft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6252</TotalTime>
  <Words>698</Words>
  <Application>Microsoft Office PowerPoint</Application>
  <PresentationFormat>Widescreen</PresentationFormat>
  <Paragraphs>112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Bài toán: OCR tiếng Việt</vt:lpstr>
      <vt:lpstr>Các mô hình OCR &amp; VLM</vt:lpstr>
      <vt:lpstr>Kiến trúc GLM-OCR (1/2)</vt:lpstr>
      <vt:lpstr>Kiến trúc (2/2) — ViT &amp; Projector</vt:lpstr>
      <vt:lpstr>LLM Decoder &amp; LoRA</vt:lpstr>
      <vt:lpstr>Tiến trình train</vt:lpstr>
      <vt:lpstr>Tổng kết &amp; kế hoạch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Trần Hoàng Lộc</dc:creator>
  <cp:lastModifiedBy>Dung</cp:lastModifiedBy>
  <cp:revision>157</cp:revision>
  <dcterms:created xsi:type="dcterms:W3CDTF">2023-03-03T01:55:04Z</dcterms:created>
  <dcterms:modified xsi:type="dcterms:W3CDTF">2026-07-09T10:52:24Z</dcterms:modified>
</cp:coreProperties>
</file>